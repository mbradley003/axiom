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is THE AXIOM: fleet diesel fraud intelligence, created by Bradley Mizinga.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one: records that can be edited without a trace.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two: the loss is small per entry but constant.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three: you find out after the 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one: capture clean data at the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two: detection that explains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three: act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capabilities, all live in the product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fleet managers: speed through the queue.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finance: numbers they can take to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drivers: transparency and fairness.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has to stand up to scrutiny, and the people it scores deserve to understand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creator.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invite them to try it, request a demo, or ask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09160"/>
            <a:ext cx="8046720" cy="9144"/>
          </a:xfrm>
          <a:prstGeom prst="rect">
            <a:avLst/>
          </a:prstGeom>
          <a:solidFill>
            <a:srgbClr val="3A3318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48640" y="4709160"/>
            <a:ext cx="8046720" cy="9144"/>
          </a:xfrm>
          <a:prstGeom prst="rect">
            <a:avLst/>
          </a:prstGeom>
          <a:solidFill>
            <a:srgbClr val="3A331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1097280" cy="36576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"/>
          <p:cNvSpPr/>
          <p:nvPr/>
        </p:nvSpPr>
        <p:spPr>
          <a:xfrm>
            <a:off x="1828800" y="-502920"/>
            <a:ext cx="5486400" cy="5486400"/>
          </a:xfrm>
          <a:prstGeom prst="ellipse">
            <a:avLst/>
          </a:prstGeom>
          <a:solidFill>
            <a:srgbClr val="D4AF37">
              <a:alpha val="7000"/>
            </a:srgbClr>
          </a:solidFill>
          <a:ln/>
        </p:spPr>
      </p:sp>
      <p:sp>
        <p:nvSpPr>
          <p:cNvPr id="3" name="!!st1"/>
          <p:cNvSpPr/>
          <p:nvPr/>
        </p:nvSpPr>
        <p:spPr>
          <a:xfrm rot="-1140000">
            <a:off x="-1188720" y="1737360"/>
            <a:ext cx="6400800" cy="18288"/>
          </a:xfrm>
          <a:prstGeom prst="rect">
            <a:avLst/>
          </a:prstGeom>
          <a:solidFill>
            <a:srgbClr val="D4AF37">
              <a:alpha val="20000"/>
            </a:srgbClr>
          </a:solidFill>
          <a:ln/>
        </p:spPr>
      </p:sp>
      <p:sp>
        <p:nvSpPr>
          <p:cNvPr id="4" name="!!st2"/>
          <p:cNvSpPr/>
          <p:nvPr/>
        </p:nvSpPr>
        <p:spPr>
          <a:xfrm rot="1860000">
            <a:off x="2103120" y="1280160"/>
            <a:ext cx="4114800" cy="18288"/>
          </a:xfrm>
          <a:prstGeom prst="rect">
            <a:avLst/>
          </a:prstGeom>
          <a:solidFill>
            <a:srgbClr val="F3E5AB">
              <a:alpha val="16000"/>
            </a:srgbClr>
          </a:solidFill>
          <a:ln/>
        </p:spPr>
      </p:sp>
      <p:sp>
        <p:nvSpPr>
          <p:cNvPr id="5" name="!!sp0"/>
          <p:cNvSpPr/>
          <p:nvPr/>
        </p:nvSpPr>
        <p:spPr>
          <a:xfrm>
            <a:off x="2194560" y="1645920"/>
            <a:ext cx="45720" cy="45720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6" name="!!sp1"/>
          <p:cNvSpPr/>
          <p:nvPr/>
        </p:nvSpPr>
        <p:spPr>
          <a:xfrm>
            <a:off x="5029200" y="3749040"/>
            <a:ext cx="73152" cy="73152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7" name="!!sp2"/>
          <p:cNvSpPr/>
          <p:nvPr/>
        </p:nvSpPr>
        <p:spPr>
          <a:xfrm>
            <a:off x="7863840" y="1920240"/>
            <a:ext cx="100584" cy="100584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8" name="!!sp3"/>
          <p:cNvSpPr/>
          <p:nvPr/>
        </p:nvSpPr>
        <p:spPr>
          <a:xfrm>
            <a:off x="2468880" y="4023360"/>
            <a:ext cx="128016" cy="128016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pic>
        <p:nvPicPr>
          <p:cNvPr id="9" name="!!logo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411480"/>
            <a:ext cx="4206240" cy="362788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223760" y="4224528"/>
            <a:ext cx="13716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852160" y="42976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5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5486400" y="4480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Bradley Mizinga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"/>
          <p:cNvSpPr/>
          <p:nvPr/>
        </p:nvSpPr>
        <p:spPr>
          <a:xfrm>
            <a:off x="777240" y="548640"/>
            <a:ext cx="4754880" cy="4754880"/>
          </a:xfrm>
          <a:prstGeom prst="ellipse">
            <a:avLst/>
          </a:prstGeom>
          <a:solidFill>
            <a:srgbClr val="D4AF37">
              <a:alpha val="7000"/>
            </a:srgbClr>
          </a:solidFill>
          <a:ln/>
        </p:spPr>
      </p:sp>
      <p:sp>
        <p:nvSpPr>
          <p:cNvPr id="4" name="!!st1"/>
          <p:cNvSpPr/>
          <p:nvPr/>
        </p:nvSpPr>
        <p:spPr>
          <a:xfrm rot="-480000">
            <a:off x="-548640" y="2560320"/>
            <a:ext cx="6400800" cy="18288"/>
          </a:xfrm>
          <a:prstGeom prst="rect">
            <a:avLst/>
          </a:prstGeom>
          <a:solidFill>
            <a:srgbClr val="D4AF37">
              <a:alpha val="20000"/>
            </a:srgbClr>
          </a:solidFill>
          <a:ln/>
        </p:spPr>
      </p:sp>
      <p:sp>
        <p:nvSpPr>
          <p:cNvPr id="5" name="!!st2"/>
          <p:cNvSpPr/>
          <p:nvPr/>
        </p:nvSpPr>
        <p:spPr>
          <a:xfrm rot="1320000">
            <a:off x="3291840" y="1828800"/>
            <a:ext cx="4114800" cy="18288"/>
          </a:xfrm>
          <a:prstGeom prst="rect">
            <a:avLst/>
          </a:prstGeom>
          <a:solidFill>
            <a:srgbClr val="F3E5AB">
              <a:alpha val="16000"/>
            </a:srgbClr>
          </a:solidFill>
          <a:ln/>
        </p:spPr>
      </p:sp>
      <p:sp>
        <p:nvSpPr>
          <p:cNvPr id="6" name="!!sp0"/>
          <p:cNvSpPr/>
          <p:nvPr/>
        </p:nvSpPr>
        <p:spPr>
          <a:xfrm>
            <a:off x="3931920" y="2834640"/>
            <a:ext cx="45720" cy="45720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7" name="!!sp1"/>
          <p:cNvSpPr/>
          <p:nvPr/>
        </p:nvSpPr>
        <p:spPr>
          <a:xfrm>
            <a:off x="6766560" y="1005840"/>
            <a:ext cx="73152" cy="73152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8" name="!!sp2"/>
          <p:cNvSpPr/>
          <p:nvPr/>
        </p:nvSpPr>
        <p:spPr>
          <a:xfrm>
            <a:off x="1371600" y="3108960"/>
            <a:ext cx="100584" cy="100584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9" name="!!sp3"/>
          <p:cNvSpPr/>
          <p:nvPr/>
        </p:nvSpPr>
        <p:spPr>
          <a:xfrm>
            <a:off x="4206240" y="1280160"/>
            <a:ext cx="128016" cy="128016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pic>
        <p:nvPicPr>
          <p:cNvPr id="10" name="!!logo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20040"/>
            <a:ext cx="640080" cy="552069"/>
          </a:xfrm>
          <a:prstGeom prst="rect">
            <a:avLst/>
          </a:prstGeom>
        </p:spPr>
      </p:pic>
      <p:sp>
        <p:nvSpPr>
          <p:cNvPr id="11" name="!!title"/>
          <p:cNvSpPr txBox="1"/>
          <p:nvPr/>
        </p:nvSpPr>
        <p:spPr>
          <a:xfrm>
            <a:off x="548640" y="36576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Diesel leaks quietly.</a:t>
            </a:r>
            <a:endParaRPr lang="en-US" sz="2800" dirty="0"/>
          </a:p>
        </p:txBody>
      </p:sp>
      <p:sp>
        <p:nvSpPr>
          <p:cNvPr id="12" name="!!dot"/>
          <p:cNvSpPr/>
          <p:nvPr/>
        </p:nvSpPr>
        <p:spPr>
          <a:xfrm>
            <a:off x="548640" y="4645152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!!c1"/>
          <p:cNvSpPr/>
          <p:nvPr/>
        </p:nvSpPr>
        <p:spPr>
          <a:xfrm>
            <a:off x="548640" y="1463040"/>
            <a:ext cx="5212080" cy="2971800"/>
          </a:xfrm>
          <a:prstGeom prst="roundRect">
            <a:avLst>
              <a:gd name="adj" fmla="val 2462"/>
            </a:avLst>
          </a:prstGeom>
          <a:solidFill>
            <a:srgbClr val="1F1B0C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4" name="!!c1h"/>
          <p:cNvSpPr txBox="1"/>
          <p:nvPr/>
        </p:nvSpPr>
        <p:spPr>
          <a:xfrm>
            <a:off x="86868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edit</a:t>
            </a:r>
            <a:endParaRPr lang="en-US" sz="2600" dirty="0"/>
          </a:p>
        </p:txBody>
      </p:sp>
      <p:sp>
        <p:nvSpPr>
          <p:cNvPr id="15" name="!!c1b"/>
          <p:cNvSpPr txBox="1"/>
          <p:nvPr/>
        </p:nvSpPr>
        <p:spPr>
          <a:xfrm>
            <a:off x="868680" y="23317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logs and loose paperwork can be changed after the fact, with no trail of who did what.</a:t>
            </a:r>
            <a:endParaRPr lang="en-US" sz="1700" dirty="0"/>
          </a:p>
        </p:txBody>
      </p:sp>
      <p:sp>
        <p:nvSpPr>
          <p:cNvPr id="16" name="!!pbar"/>
          <p:cNvSpPr/>
          <p:nvPr/>
        </p:nvSpPr>
        <p:spPr>
          <a:xfrm>
            <a:off x="868680" y="4160520"/>
            <a:ext cx="1432560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!!c1m"/>
          <p:cNvSpPr txBox="1"/>
          <p:nvPr/>
        </p:nvSpPr>
        <p:spPr>
          <a:xfrm>
            <a:off x="868680" y="3429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number can be quietly changed, it can’t be trusted.</a:t>
            </a:r>
            <a:endParaRPr lang="en-US" sz="1400" dirty="0"/>
          </a:p>
        </p:txBody>
      </p:sp>
      <p:sp>
        <p:nvSpPr>
          <p:cNvPr id="18" name="!!c2"/>
          <p:cNvSpPr/>
          <p:nvPr/>
        </p:nvSpPr>
        <p:spPr>
          <a:xfrm>
            <a:off x="6035040" y="146304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161616"/>
          </a:solidFill>
          <a:ln w="9525">
            <a:solidFill>
              <a:srgbClr val="5A4A1A"/>
            </a:solidFill>
            <a:prstDash val="solid"/>
          </a:ln>
        </p:spPr>
      </p:sp>
      <p:sp>
        <p:nvSpPr>
          <p:cNvPr id="19" name="!!c2h"/>
          <p:cNvSpPr txBox="1"/>
          <p:nvPr/>
        </p:nvSpPr>
        <p:spPr>
          <a:xfrm>
            <a:off x="626364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 plain sight</a:t>
            </a:r>
            <a:endParaRPr lang="en-US" sz="1400" dirty="0"/>
          </a:p>
        </p:txBody>
      </p:sp>
      <p:sp>
        <p:nvSpPr>
          <p:cNvPr id="20" name="!!c2b"/>
          <p:cNvSpPr txBox="1"/>
          <p:nvPr/>
        </p:nvSpPr>
        <p:spPr>
          <a:xfrm>
            <a:off x="6263640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repeated skimming stays under the radar. No single entry looks wrong enough to question.</a:t>
            </a:r>
            <a:endParaRPr lang="en-US" sz="1050" dirty="0"/>
          </a:p>
        </p:txBody>
      </p:sp>
      <p:sp>
        <p:nvSpPr>
          <p:cNvPr id="21" name="!!c3"/>
          <p:cNvSpPr/>
          <p:nvPr/>
        </p:nvSpPr>
        <p:spPr>
          <a:xfrm>
            <a:off x="6035040" y="30175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161616"/>
          </a:solidFill>
          <a:ln w="9525">
            <a:solidFill>
              <a:srgbClr val="5A4A1A"/>
            </a:solidFill>
            <a:prstDash val="solid"/>
          </a:ln>
        </p:spPr>
      </p:sp>
      <p:sp>
        <p:nvSpPr>
          <p:cNvPr id="22" name="!!c3h"/>
          <p:cNvSpPr txBox="1"/>
          <p:nvPr/>
        </p:nvSpPr>
        <p:spPr>
          <a:xfrm>
            <a:off x="6263640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too late</a:t>
            </a:r>
            <a:endParaRPr lang="en-US" sz="1400" dirty="0"/>
          </a:p>
        </p:txBody>
      </p:sp>
      <p:sp>
        <p:nvSpPr>
          <p:cNvPr id="23" name="!!c3b"/>
          <p:cNvSpPr txBox="1"/>
          <p:nvPr/>
        </p:nvSpPr>
        <p:spPr>
          <a:xfrm>
            <a:off x="6263640" y="3566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month-end reports show a problem, the diesel is gone and so is the evidence.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36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"/>
          <p:cNvSpPr/>
          <p:nvPr/>
        </p:nvSpPr>
        <p:spPr>
          <a:xfrm>
            <a:off x="777240" y="548640"/>
            <a:ext cx="4754880" cy="4754880"/>
          </a:xfrm>
          <a:prstGeom prst="ellipse">
            <a:avLst/>
          </a:prstGeom>
          <a:solidFill>
            <a:srgbClr val="D4AF37">
              <a:alpha val="7000"/>
            </a:srgbClr>
          </a:solidFill>
          <a:ln/>
        </p:spPr>
      </p:sp>
      <p:sp>
        <p:nvSpPr>
          <p:cNvPr id="4" name="!!st1"/>
          <p:cNvSpPr/>
          <p:nvPr/>
        </p:nvSpPr>
        <p:spPr>
          <a:xfrm rot="180000">
            <a:off x="91440" y="3383280"/>
            <a:ext cx="6400800" cy="18288"/>
          </a:xfrm>
          <a:prstGeom prst="rect">
            <a:avLst/>
          </a:prstGeom>
          <a:solidFill>
            <a:srgbClr val="D4AF37">
              <a:alpha val="20000"/>
            </a:srgbClr>
          </a:solidFill>
          <a:ln/>
        </p:spPr>
      </p:sp>
      <p:sp>
        <p:nvSpPr>
          <p:cNvPr id="5" name="!!st2"/>
          <p:cNvSpPr/>
          <p:nvPr/>
        </p:nvSpPr>
        <p:spPr>
          <a:xfrm rot="780000">
            <a:off x="4480560" y="2377440"/>
            <a:ext cx="4114800" cy="18288"/>
          </a:xfrm>
          <a:prstGeom prst="rect">
            <a:avLst/>
          </a:prstGeom>
          <a:solidFill>
            <a:srgbClr val="F3E5AB">
              <a:alpha val="16000"/>
            </a:srgbClr>
          </a:solidFill>
          <a:ln/>
        </p:spPr>
      </p:sp>
      <p:sp>
        <p:nvSpPr>
          <p:cNvPr id="6" name="!!sp0"/>
          <p:cNvSpPr/>
          <p:nvPr/>
        </p:nvSpPr>
        <p:spPr>
          <a:xfrm>
            <a:off x="5669280" y="4023360"/>
            <a:ext cx="45720" cy="45720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7" name="!!sp1"/>
          <p:cNvSpPr/>
          <p:nvPr/>
        </p:nvSpPr>
        <p:spPr>
          <a:xfrm>
            <a:off x="8503920" y="2194560"/>
            <a:ext cx="73152" cy="73152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8" name="!!sp2"/>
          <p:cNvSpPr/>
          <p:nvPr/>
        </p:nvSpPr>
        <p:spPr>
          <a:xfrm>
            <a:off x="3108960" y="4297680"/>
            <a:ext cx="100584" cy="100584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9" name="!!sp3"/>
          <p:cNvSpPr/>
          <p:nvPr/>
        </p:nvSpPr>
        <p:spPr>
          <a:xfrm>
            <a:off x="5943600" y="2468880"/>
            <a:ext cx="128016" cy="128016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pic>
        <p:nvPicPr>
          <p:cNvPr id="10" name="!!logo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20040"/>
            <a:ext cx="640080" cy="552069"/>
          </a:xfrm>
          <a:prstGeom prst="rect">
            <a:avLst/>
          </a:prstGeom>
        </p:spPr>
      </p:pic>
      <p:sp>
        <p:nvSpPr>
          <p:cNvPr id="11" name="!!title"/>
          <p:cNvSpPr txBox="1"/>
          <p:nvPr/>
        </p:nvSpPr>
        <p:spPr>
          <a:xfrm>
            <a:off x="548640" y="36576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Diesel leaks quietly.</a:t>
            </a:r>
            <a:endParaRPr lang="en-US" sz="2800" dirty="0"/>
          </a:p>
        </p:txBody>
      </p:sp>
      <p:sp>
        <p:nvSpPr>
          <p:cNvPr id="12" name="!!dot"/>
          <p:cNvSpPr/>
          <p:nvPr/>
        </p:nvSpPr>
        <p:spPr>
          <a:xfrm>
            <a:off x="1208532" y="4645152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!!c1"/>
          <p:cNvSpPr/>
          <p:nvPr/>
        </p:nvSpPr>
        <p:spPr>
          <a:xfrm>
            <a:off x="6035040" y="146304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161616"/>
          </a:solidFill>
          <a:ln w="9525">
            <a:solidFill>
              <a:srgbClr val="5A4A1A"/>
            </a:solidFill>
            <a:prstDash val="solid"/>
          </a:ln>
        </p:spPr>
      </p:sp>
      <p:sp>
        <p:nvSpPr>
          <p:cNvPr id="14" name="!!c1h"/>
          <p:cNvSpPr txBox="1"/>
          <p:nvPr/>
        </p:nvSpPr>
        <p:spPr>
          <a:xfrm>
            <a:off x="626364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edit</a:t>
            </a:r>
            <a:endParaRPr lang="en-US" sz="1400" dirty="0"/>
          </a:p>
        </p:txBody>
      </p:sp>
      <p:sp>
        <p:nvSpPr>
          <p:cNvPr id="15" name="!!c1b"/>
          <p:cNvSpPr txBox="1"/>
          <p:nvPr/>
        </p:nvSpPr>
        <p:spPr>
          <a:xfrm>
            <a:off x="6263640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logs and loose paperwork can be changed after the fact, with no trail of who did what.</a:t>
            </a:r>
            <a:endParaRPr lang="en-US" sz="1050" dirty="0"/>
          </a:p>
        </p:txBody>
      </p:sp>
      <p:sp>
        <p:nvSpPr>
          <p:cNvPr id="16" name="!!c2"/>
          <p:cNvSpPr/>
          <p:nvPr/>
        </p:nvSpPr>
        <p:spPr>
          <a:xfrm>
            <a:off x="548640" y="1463040"/>
            <a:ext cx="5212080" cy="2971800"/>
          </a:xfrm>
          <a:prstGeom prst="roundRect">
            <a:avLst>
              <a:gd name="adj" fmla="val 2462"/>
            </a:avLst>
          </a:prstGeom>
          <a:solidFill>
            <a:srgbClr val="1F1B0C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7" name="!!c2h"/>
          <p:cNvSpPr txBox="1"/>
          <p:nvPr/>
        </p:nvSpPr>
        <p:spPr>
          <a:xfrm>
            <a:off x="86868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 plain sight</a:t>
            </a:r>
            <a:endParaRPr lang="en-US" sz="2600" dirty="0"/>
          </a:p>
        </p:txBody>
      </p:sp>
      <p:sp>
        <p:nvSpPr>
          <p:cNvPr id="18" name="!!c2b"/>
          <p:cNvSpPr txBox="1"/>
          <p:nvPr/>
        </p:nvSpPr>
        <p:spPr>
          <a:xfrm>
            <a:off x="868680" y="23317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repeated skimming stays under the radar. No single entry looks wrong enough to question.</a:t>
            </a:r>
            <a:endParaRPr lang="en-US" sz="1700" dirty="0"/>
          </a:p>
        </p:txBody>
      </p:sp>
      <p:sp>
        <p:nvSpPr>
          <p:cNvPr id="19" name="!!pbar"/>
          <p:cNvSpPr/>
          <p:nvPr/>
        </p:nvSpPr>
        <p:spPr>
          <a:xfrm>
            <a:off x="868680" y="4160520"/>
            <a:ext cx="2865120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!!c2m"/>
          <p:cNvSpPr txBox="1"/>
          <p:nvPr/>
        </p:nvSpPr>
        <p:spPr>
          <a:xfrm>
            <a:off x="868680" y="3429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litres a day looks harmless. Across a fleet and a year, it isn’t.</a:t>
            </a:r>
            <a:endParaRPr lang="en-US" sz="1400" dirty="0"/>
          </a:p>
        </p:txBody>
      </p:sp>
      <p:sp>
        <p:nvSpPr>
          <p:cNvPr id="21" name="!!c3"/>
          <p:cNvSpPr/>
          <p:nvPr/>
        </p:nvSpPr>
        <p:spPr>
          <a:xfrm>
            <a:off x="6035040" y="30175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161616"/>
          </a:solidFill>
          <a:ln w="9525">
            <a:solidFill>
              <a:srgbClr val="5A4A1A"/>
            </a:solidFill>
            <a:prstDash val="solid"/>
          </a:ln>
        </p:spPr>
      </p:sp>
      <p:sp>
        <p:nvSpPr>
          <p:cNvPr id="22" name="!!c3h"/>
          <p:cNvSpPr txBox="1"/>
          <p:nvPr/>
        </p:nvSpPr>
        <p:spPr>
          <a:xfrm>
            <a:off x="6263640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too late</a:t>
            </a:r>
            <a:endParaRPr lang="en-US" sz="1400" dirty="0"/>
          </a:p>
        </p:txBody>
      </p:sp>
      <p:sp>
        <p:nvSpPr>
          <p:cNvPr id="23" name="!!c3b"/>
          <p:cNvSpPr txBox="1"/>
          <p:nvPr/>
        </p:nvSpPr>
        <p:spPr>
          <a:xfrm>
            <a:off x="6263640" y="3566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month-end reports show a problem, the diesel is gone and so is the evidence.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3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"/>
          <p:cNvSpPr/>
          <p:nvPr/>
        </p:nvSpPr>
        <p:spPr>
          <a:xfrm>
            <a:off x="777240" y="548640"/>
            <a:ext cx="4754880" cy="4754880"/>
          </a:xfrm>
          <a:prstGeom prst="ellipse">
            <a:avLst/>
          </a:prstGeom>
          <a:solidFill>
            <a:srgbClr val="D4AF37">
              <a:alpha val="7000"/>
            </a:srgbClr>
          </a:solidFill>
          <a:ln/>
        </p:spPr>
      </p:sp>
      <p:sp>
        <p:nvSpPr>
          <p:cNvPr id="4" name="!!st1"/>
          <p:cNvSpPr/>
          <p:nvPr/>
        </p:nvSpPr>
        <p:spPr>
          <a:xfrm rot="840000">
            <a:off x="731520" y="1097280"/>
            <a:ext cx="6400800" cy="18288"/>
          </a:xfrm>
          <a:prstGeom prst="rect">
            <a:avLst/>
          </a:prstGeom>
          <a:solidFill>
            <a:srgbClr val="D4AF37">
              <a:alpha val="20000"/>
            </a:srgbClr>
          </a:solidFill>
          <a:ln/>
        </p:spPr>
      </p:sp>
      <p:sp>
        <p:nvSpPr>
          <p:cNvPr id="5" name="!!st2"/>
          <p:cNvSpPr/>
          <p:nvPr/>
        </p:nvSpPr>
        <p:spPr>
          <a:xfrm rot="240000">
            <a:off x="5669280" y="2926080"/>
            <a:ext cx="4114800" cy="18288"/>
          </a:xfrm>
          <a:prstGeom prst="rect">
            <a:avLst/>
          </a:prstGeom>
          <a:solidFill>
            <a:srgbClr val="F3E5AB">
              <a:alpha val="16000"/>
            </a:srgbClr>
          </a:solidFill>
          <a:ln/>
        </p:spPr>
      </p:sp>
      <p:sp>
        <p:nvSpPr>
          <p:cNvPr id="6" name="!!sp0"/>
          <p:cNvSpPr/>
          <p:nvPr/>
        </p:nvSpPr>
        <p:spPr>
          <a:xfrm>
            <a:off x="7406640" y="1280160"/>
            <a:ext cx="45720" cy="45720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7" name="!!sp1"/>
          <p:cNvSpPr/>
          <p:nvPr/>
        </p:nvSpPr>
        <p:spPr>
          <a:xfrm>
            <a:off x="2011680" y="3383280"/>
            <a:ext cx="73152" cy="73152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8" name="!!sp2"/>
          <p:cNvSpPr/>
          <p:nvPr/>
        </p:nvSpPr>
        <p:spPr>
          <a:xfrm>
            <a:off x="4846320" y="1554480"/>
            <a:ext cx="100584" cy="100584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9" name="!!sp3"/>
          <p:cNvSpPr/>
          <p:nvPr/>
        </p:nvSpPr>
        <p:spPr>
          <a:xfrm>
            <a:off x="7680960" y="3657600"/>
            <a:ext cx="128016" cy="128016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pic>
        <p:nvPicPr>
          <p:cNvPr id="10" name="!!logo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20040"/>
            <a:ext cx="640080" cy="552069"/>
          </a:xfrm>
          <a:prstGeom prst="rect">
            <a:avLst/>
          </a:prstGeom>
        </p:spPr>
      </p:pic>
      <p:sp>
        <p:nvSpPr>
          <p:cNvPr id="11" name="!!title"/>
          <p:cNvSpPr txBox="1"/>
          <p:nvPr/>
        </p:nvSpPr>
        <p:spPr>
          <a:xfrm>
            <a:off x="548640" y="36576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Diesel leaks quietly.</a:t>
            </a:r>
            <a:endParaRPr lang="en-US" sz="2800" dirty="0"/>
          </a:p>
        </p:txBody>
      </p:sp>
      <p:sp>
        <p:nvSpPr>
          <p:cNvPr id="12" name="!!dot"/>
          <p:cNvSpPr/>
          <p:nvPr/>
        </p:nvSpPr>
        <p:spPr>
          <a:xfrm>
            <a:off x="1868424" y="4645152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!!c1"/>
          <p:cNvSpPr/>
          <p:nvPr/>
        </p:nvSpPr>
        <p:spPr>
          <a:xfrm>
            <a:off x="6035040" y="146304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161616"/>
          </a:solidFill>
          <a:ln w="9525">
            <a:solidFill>
              <a:srgbClr val="5A4A1A"/>
            </a:solidFill>
            <a:prstDash val="solid"/>
          </a:ln>
        </p:spPr>
      </p:sp>
      <p:sp>
        <p:nvSpPr>
          <p:cNvPr id="14" name="!!c1h"/>
          <p:cNvSpPr txBox="1"/>
          <p:nvPr/>
        </p:nvSpPr>
        <p:spPr>
          <a:xfrm>
            <a:off x="626364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edit</a:t>
            </a:r>
            <a:endParaRPr lang="en-US" sz="1400" dirty="0"/>
          </a:p>
        </p:txBody>
      </p:sp>
      <p:sp>
        <p:nvSpPr>
          <p:cNvPr id="15" name="!!c1b"/>
          <p:cNvSpPr txBox="1"/>
          <p:nvPr/>
        </p:nvSpPr>
        <p:spPr>
          <a:xfrm>
            <a:off x="6263640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logs and loose paperwork can be changed after the fact, with no trail of who did what.</a:t>
            </a:r>
            <a:endParaRPr lang="en-US" sz="1050" dirty="0"/>
          </a:p>
        </p:txBody>
      </p:sp>
      <p:sp>
        <p:nvSpPr>
          <p:cNvPr id="16" name="!!c2"/>
          <p:cNvSpPr/>
          <p:nvPr/>
        </p:nvSpPr>
        <p:spPr>
          <a:xfrm>
            <a:off x="6035040" y="30175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161616"/>
          </a:solidFill>
          <a:ln w="9525">
            <a:solidFill>
              <a:srgbClr val="5A4A1A"/>
            </a:solidFill>
            <a:prstDash val="solid"/>
          </a:ln>
        </p:spPr>
      </p:sp>
      <p:sp>
        <p:nvSpPr>
          <p:cNvPr id="17" name="!!c2h"/>
          <p:cNvSpPr txBox="1"/>
          <p:nvPr/>
        </p:nvSpPr>
        <p:spPr>
          <a:xfrm>
            <a:off x="6263640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 plain sight</a:t>
            </a:r>
            <a:endParaRPr lang="en-US" sz="1400" dirty="0"/>
          </a:p>
        </p:txBody>
      </p:sp>
      <p:sp>
        <p:nvSpPr>
          <p:cNvPr id="18" name="!!c2b"/>
          <p:cNvSpPr txBox="1"/>
          <p:nvPr/>
        </p:nvSpPr>
        <p:spPr>
          <a:xfrm>
            <a:off x="6263640" y="3566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repeated skimming stays under the radar. No single entry looks wrong enough to question.</a:t>
            </a:r>
            <a:endParaRPr lang="en-US" sz="1050" dirty="0"/>
          </a:p>
        </p:txBody>
      </p:sp>
      <p:sp>
        <p:nvSpPr>
          <p:cNvPr id="19" name="!!c3"/>
          <p:cNvSpPr/>
          <p:nvPr/>
        </p:nvSpPr>
        <p:spPr>
          <a:xfrm>
            <a:off x="548640" y="1463040"/>
            <a:ext cx="5212080" cy="2971800"/>
          </a:xfrm>
          <a:prstGeom prst="roundRect">
            <a:avLst>
              <a:gd name="adj" fmla="val 2462"/>
            </a:avLst>
          </a:prstGeom>
          <a:solidFill>
            <a:srgbClr val="1F1B0C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20" name="!!c3h"/>
          <p:cNvSpPr txBox="1"/>
          <p:nvPr/>
        </p:nvSpPr>
        <p:spPr>
          <a:xfrm>
            <a:off x="86868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too late</a:t>
            </a:r>
            <a:endParaRPr lang="en-US" sz="2600" dirty="0"/>
          </a:p>
        </p:txBody>
      </p:sp>
      <p:sp>
        <p:nvSpPr>
          <p:cNvPr id="21" name="!!c3b"/>
          <p:cNvSpPr txBox="1"/>
          <p:nvPr/>
        </p:nvSpPr>
        <p:spPr>
          <a:xfrm>
            <a:off x="868680" y="23317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month-end reports show a problem, the diesel is gone and so is the evidence.</a:t>
            </a:r>
            <a:endParaRPr lang="en-US" sz="1700" dirty="0"/>
          </a:p>
        </p:txBody>
      </p:sp>
      <p:sp>
        <p:nvSpPr>
          <p:cNvPr id="22" name="!!pbar"/>
          <p:cNvSpPr/>
          <p:nvPr/>
        </p:nvSpPr>
        <p:spPr>
          <a:xfrm>
            <a:off x="868680" y="4160520"/>
            <a:ext cx="4297680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3" name="!!c3m"/>
          <p:cNvSpPr txBox="1"/>
          <p:nvPr/>
        </p:nvSpPr>
        <p:spPr>
          <a:xfrm>
            <a:off x="868680" y="3429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means nothing to recover and nothing to act on.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3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"/>
          <p:cNvSpPr/>
          <p:nvPr/>
        </p:nvSpPr>
        <p:spPr>
          <a:xfrm>
            <a:off x="777240" y="548640"/>
            <a:ext cx="4754880" cy="4754880"/>
          </a:xfrm>
          <a:prstGeom prst="ellipse">
            <a:avLst/>
          </a:prstGeom>
          <a:solidFill>
            <a:srgbClr val="D4AF37">
              <a:alpha val="7000"/>
            </a:srgbClr>
          </a:solidFill>
          <a:ln/>
        </p:spPr>
      </p:sp>
      <p:sp>
        <p:nvSpPr>
          <p:cNvPr id="4" name="!!st1"/>
          <p:cNvSpPr/>
          <p:nvPr/>
        </p:nvSpPr>
        <p:spPr>
          <a:xfrm rot="1500000">
            <a:off x="1371600" y="1920240"/>
            <a:ext cx="6400800" cy="18288"/>
          </a:xfrm>
          <a:prstGeom prst="rect">
            <a:avLst/>
          </a:prstGeom>
          <a:solidFill>
            <a:srgbClr val="D4AF37">
              <a:alpha val="20000"/>
            </a:srgbClr>
          </a:solidFill>
          <a:ln/>
        </p:spPr>
      </p:sp>
      <p:sp>
        <p:nvSpPr>
          <p:cNvPr id="5" name="!!st2"/>
          <p:cNvSpPr/>
          <p:nvPr/>
        </p:nvSpPr>
        <p:spPr>
          <a:xfrm rot="-300000">
            <a:off x="1371600" y="3474720"/>
            <a:ext cx="4114800" cy="18288"/>
          </a:xfrm>
          <a:prstGeom prst="rect">
            <a:avLst/>
          </a:prstGeom>
          <a:solidFill>
            <a:srgbClr val="F3E5AB">
              <a:alpha val="16000"/>
            </a:srgbClr>
          </a:solidFill>
          <a:ln/>
        </p:spPr>
      </p:sp>
      <p:sp>
        <p:nvSpPr>
          <p:cNvPr id="6" name="!!sp0"/>
          <p:cNvSpPr/>
          <p:nvPr/>
        </p:nvSpPr>
        <p:spPr>
          <a:xfrm>
            <a:off x="914400" y="2468880"/>
            <a:ext cx="45720" cy="45720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7" name="!!sp1"/>
          <p:cNvSpPr/>
          <p:nvPr/>
        </p:nvSpPr>
        <p:spPr>
          <a:xfrm>
            <a:off x="3749040" y="640080"/>
            <a:ext cx="73152" cy="73152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8" name="!!sp2"/>
          <p:cNvSpPr/>
          <p:nvPr/>
        </p:nvSpPr>
        <p:spPr>
          <a:xfrm>
            <a:off x="6583680" y="2743200"/>
            <a:ext cx="100584" cy="100584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9" name="!!sp3"/>
          <p:cNvSpPr/>
          <p:nvPr/>
        </p:nvSpPr>
        <p:spPr>
          <a:xfrm>
            <a:off x="1188720" y="914400"/>
            <a:ext cx="128016" cy="128016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pic>
        <p:nvPicPr>
          <p:cNvPr id="10" name="!!logo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20040"/>
            <a:ext cx="640080" cy="552069"/>
          </a:xfrm>
          <a:prstGeom prst="rect">
            <a:avLst/>
          </a:prstGeom>
        </p:spPr>
      </p:pic>
      <p:sp>
        <p:nvSpPr>
          <p:cNvPr id="11" name="!!title"/>
          <p:cNvSpPr txBox="1"/>
          <p:nvPr/>
        </p:nvSpPr>
        <p:spPr>
          <a:xfrm>
            <a:off x="548640" y="36576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AXIOM works</a:t>
            </a:r>
            <a:endParaRPr lang="en-US" sz="2800" dirty="0"/>
          </a:p>
        </p:txBody>
      </p:sp>
      <p:sp>
        <p:nvSpPr>
          <p:cNvPr id="12" name="!!dot"/>
          <p:cNvSpPr/>
          <p:nvPr/>
        </p:nvSpPr>
        <p:spPr>
          <a:xfrm>
            <a:off x="2528316" y="4645152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!!c1"/>
          <p:cNvSpPr/>
          <p:nvPr/>
        </p:nvSpPr>
        <p:spPr>
          <a:xfrm>
            <a:off x="548640" y="1463040"/>
            <a:ext cx="5212080" cy="2971800"/>
          </a:xfrm>
          <a:prstGeom prst="roundRect">
            <a:avLst>
              <a:gd name="adj" fmla="val 2462"/>
            </a:avLst>
          </a:prstGeom>
          <a:solidFill>
            <a:srgbClr val="1F1B0C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4" name="!!c1h"/>
          <p:cNvSpPr txBox="1"/>
          <p:nvPr/>
        </p:nvSpPr>
        <p:spPr>
          <a:xfrm>
            <a:off x="86868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Capture</a:t>
            </a:r>
            <a:endParaRPr lang="en-US" sz="2600" dirty="0"/>
          </a:p>
        </p:txBody>
      </p:sp>
      <p:sp>
        <p:nvSpPr>
          <p:cNvPr id="15" name="!!c1b"/>
          <p:cNvSpPr txBox="1"/>
          <p:nvPr/>
        </p:nvSpPr>
        <p:spPr>
          <a:xfrm>
            <a:off x="868680" y="23317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fills and trips in seconds: distance, litres, route and a receipt photo.</a:t>
            </a:r>
            <a:endParaRPr lang="en-US" sz="1700" dirty="0"/>
          </a:p>
        </p:txBody>
      </p:sp>
      <p:sp>
        <p:nvSpPr>
          <p:cNvPr id="16" name="!!pbar"/>
          <p:cNvSpPr/>
          <p:nvPr/>
        </p:nvSpPr>
        <p:spPr>
          <a:xfrm>
            <a:off x="868680" y="4160520"/>
            <a:ext cx="1432560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!!c1m"/>
          <p:cNvSpPr txBox="1"/>
          <p:nvPr/>
        </p:nvSpPr>
        <p:spPr>
          <a:xfrm>
            <a:off x="868680" y="3429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on a phone, with proof attached to every entry.</a:t>
            </a:r>
            <a:endParaRPr lang="en-US" sz="1400" dirty="0"/>
          </a:p>
        </p:txBody>
      </p:sp>
      <p:sp>
        <p:nvSpPr>
          <p:cNvPr id="18" name="!!c2"/>
          <p:cNvSpPr/>
          <p:nvPr/>
        </p:nvSpPr>
        <p:spPr>
          <a:xfrm>
            <a:off x="6035040" y="146304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161616"/>
          </a:solidFill>
          <a:ln w="9525">
            <a:solidFill>
              <a:srgbClr val="5A4A1A"/>
            </a:solidFill>
            <a:prstDash val="solid"/>
          </a:ln>
        </p:spPr>
      </p:sp>
      <p:sp>
        <p:nvSpPr>
          <p:cNvPr id="19" name="!!c2h"/>
          <p:cNvSpPr txBox="1"/>
          <p:nvPr/>
        </p:nvSpPr>
        <p:spPr>
          <a:xfrm>
            <a:off x="626364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Detect</a:t>
            </a:r>
            <a:endParaRPr lang="en-US" sz="1400" dirty="0"/>
          </a:p>
        </p:txBody>
      </p:sp>
      <p:sp>
        <p:nvSpPr>
          <p:cNvPr id="20" name="!!c2b"/>
          <p:cNvSpPr txBox="1"/>
          <p:nvPr/>
        </p:nvSpPr>
        <p:spPr>
          <a:xfrm>
            <a:off x="6263640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is scored against expected use. Outliers and slow drift are flagged automatically.</a:t>
            </a:r>
            <a:endParaRPr lang="en-US" sz="1050" dirty="0"/>
          </a:p>
        </p:txBody>
      </p:sp>
      <p:sp>
        <p:nvSpPr>
          <p:cNvPr id="21" name="!!c3"/>
          <p:cNvSpPr/>
          <p:nvPr/>
        </p:nvSpPr>
        <p:spPr>
          <a:xfrm>
            <a:off x="6035040" y="30175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161616"/>
          </a:solidFill>
          <a:ln w="9525">
            <a:solidFill>
              <a:srgbClr val="5A4A1A"/>
            </a:solidFill>
            <a:prstDash val="solid"/>
          </a:ln>
        </p:spPr>
      </p:sp>
      <p:sp>
        <p:nvSpPr>
          <p:cNvPr id="22" name="!!c3h"/>
          <p:cNvSpPr txBox="1"/>
          <p:nvPr/>
        </p:nvSpPr>
        <p:spPr>
          <a:xfrm>
            <a:off x="6263640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Act</a:t>
            </a:r>
            <a:endParaRPr lang="en-US" sz="1400" dirty="0"/>
          </a:p>
        </p:txBody>
      </p:sp>
      <p:sp>
        <p:nvSpPr>
          <p:cNvPr id="23" name="!!c3b"/>
          <p:cNvSpPr txBox="1"/>
          <p:nvPr/>
        </p:nvSpPr>
        <p:spPr>
          <a:xfrm>
            <a:off x="6263640" y="3566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case, assign an investigator, track recovery and report the result.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36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"/>
          <p:cNvSpPr/>
          <p:nvPr/>
        </p:nvSpPr>
        <p:spPr>
          <a:xfrm>
            <a:off x="777240" y="548640"/>
            <a:ext cx="4754880" cy="4754880"/>
          </a:xfrm>
          <a:prstGeom prst="ellipse">
            <a:avLst/>
          </a:prstGeom>
          <a:solidFill>
            <a:srgbClr val="D4AF37">
              <a:alpha val="7000"/>
            </a:srgbClr>
          </a:solidFill>
          <a:ln/>
        </p:spPr>
      </p:sp>
      <p:sp>
        <p:nvSpPr>
          <p:cNvPr id="4" name="!!st1"/>
          <p:cNvSpPr/>
          <p:nvPr/>
        </p:nvSpPr>
        <p:spPr>
          <a:xfrm rot="2160000">
            <a:off x="2011680" y="2743200"/>
            <a:ext cx="6400800" cy="18288"/>
          </a:xfrm>
          <a:prstGeom prst="rect">
            <a:avLst/>
          </a:prstGeom>
          <a:solidFill>
            <a:srgbClr val="D4AF37">
              <a:alpha val="20000"/>
            </a:srgbClr>
          </a:solidFill>
          <a:ln/>
        </p:spPr>
      </p:sp>
      <p:sp>
        <p:nvSpPr>
          <p:cNvPr id="5" name="!!st2"/>
          <p:cNvSpPr/>
          <p:nvPr/>
        </p:nvSpPr>
        <p:spPr>
          <a:xfrm rot="-840000">
            <a:off x="2560320" y="4023360"/>
            <a:ext cx="4114800" cy="18288"/>
          </a:xfrm>
          <a:prstGeom prst="rect">
            <a:avLst/>
          </a:prstGeom>
          <a:solidFill>
            <a:srgbClr val="F3E5AB">
              <a:alpha val="16000"/>
            </a:srgbClr>
          </a:solidFill>
          <a:ln/>
        </p:spPr>
      </p:sp>
      <p:sp>
        <p:nvSpPr>
          <p:cNvPr id="6" name="!!sp0"/>
          <p:cNvSpPr/>
          <p:nvPr/>
        </p:nvSpPr>
        <p:spPr>
          <a:xfrm>
            <a:off x="2651760" y="3657600"/>
            <a:ext cx="45720" cy="45720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7" name="!!sp1"/>
          <p:cNvSpPr/>
          <p:nvPr/>
        </p:nvSpPr>
        <p:spPr>
          <a:xfrm>
            <a:off x="5486400" y="1828800"/>
            <a:ext cx="73152" cy="73152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8" name="!!sp2"/>
          <p:cNvSpPr/>
          <p:nvPr/>
        </p:nvSpPr>
        <p:spPr>
          <a:xfrm>
            <a:off x="8321040" y="3931920"/>
            <a:ext cx="100584" cy="100584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9" name="!!sp3"/>
          <p:cNvSpPr/>
          <p:nvPr/>
        </p:nvSpPr>
        <p:spPr>
          <a:xfrm>
            <a:off x="2926080" y="2103120"/>
            <a:ext cx="128016" cy="128016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pic>
        <p:nvPicPr>
          <p:cNvPr id="10" name="!!logo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20040"/>
            <a:ext cx="640080" cy="552069"/>
          </a:xfrm>
          <a:prstGeom prst="rect">
            <a:avLst/>
          </a:prstGeom>
        </p:spPr>
      </p:pic>
      <p:sp>
        <p:nvSpPr>
          <p:cNvPr id="11" name="!!title"/>
          <p:cNvSpPr txBox="1"/>
          <p:nvPr/>
        </p:nvSpPr>
        <p:spPr>
          <a:xfrm>
            <a:off x="548640" y="36576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AXIOM works</a:t>
            </a:r>
            <a:endParaRPr lang="en-US" sz="2800" dirty="0"/>
          </a:p>
        </p:txBody>
      </p:sp>
      <p:sp>
        <p:nvSpPr>
          <p:cNvPr id="12" name="!!dot"/>
          <p:cNvSpPr/>
          <p:nvPr/>
        </p:nvSpPr>
        <p:spPr>
          <a:xfrm>
            <a:off x="3188208" y="4645152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!!c1"/>
          <p:cNvSpPr/>
          <p:nvPr/>
        </p:nvSpPr>
        <p:spPr>
          <a:xfrm>
            <a:off x="6035040" y="146304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161616"/>
          </a:solidFill>
          <a:ln w="9525">
            <a:solidFill>
              <a:srgbClr val="5A4A1A"/>
            </a:solidFill>
            <a:prstDash val="solid"/>
          </a:ln>
        </p:spPr>
      </p:sp>
      <p:sp>
        <p:nvSpPr>
          <p:cNvPr id="14" name="!!c1h"/>
          <p:cNvSpPr txBox="1"/>
          <p:nvPr/>
        </p:nvSpPr>
        <p:spPr>
          <a:xfrm>
            <a:off x="626364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Capture</a:t>
            </a:r>
            <a:endParaRPr lang="en-US" sz="1400" dirty="0"/>
          </a:p>
        </p:txBody>
      </p:sp>
      <p:sp>
        <p:nvSpPr>
          <p:cNvPr id="15" name="!!c1b"/>
          <p:cNvSpPr txBox="1"/>
          <p:nvPr/>
        </p:nvSpPr>
        <p:spPr>
          <a:xfrm>
            <a:off x="6263640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fills and trips in seconds: distance, litres, route and a receipt photo.</a:t>
            </a:r>
            <a:endParaRPr lang="en-US" sz="1050" dirty="0"/>
          </a:p>
        </p:txBody>
      </p:sp>
      <p:sp>
        <p:nvSpPr>
          <p:cNvPr id="16" name="!!c2"/>
          <p:cNvSpPr/>
          <p:nvPr/>
        </p:nvSpPr>
        <p:spPr>
          <a:xfrm>
            <a:off x="548640" y="1463040"/>
            <a:ext cx="5212080" cy="2971800"/>
          </a:xfrm>
          <a:prstGeom prst="roundRect">
            <a:avLst>
              <a:gd name="adj" fmla="val 2462"/>
            </a:avLst>
          </a:prstGeom>
          <a:solidFill>
            <a:srgbClr val="1F1B0C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7" name="!!c2h"/>
          <p:cNvSpPr txBox="1"/>
          <p:nvPr/>
        </p:nvSpPr>
        <p:spPr>
          <a:xfrm>
            <a:off x="86868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Detect</a:t>
            </a:r>
            <a:endParaRPr lang="en-US" sz="2600" dirty="0"/>
          </a:p>
        </p:txBody>
      </p:sp>
      <p:sp>
        <p:nvSpPr>
          <p:cNvPr id="18" name="!!c2b"/>
          <p:cNvSpPr txBox="1"/>
          <p:nvPr/>
        </p:nvSpPr>
        <p:spPr>
          <a:xfrm>
            <a:off x="868680" y="23317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is scored against expected use. Outliers and slow drift are flagged automatically.</a:t>
            </a:r>
            <a:endParaRPr lang="en-US" sz="1700" dirty="0"/>
          </a:p>
        </p:txBody>
      </p:sp>
      <p:sp>
        <p:nvSpPr>
          <p:cNvPr id="19" name="!!pbar"/>
          <p:cNvSpPr/>
          <p:nvPr/>
        </p:nvSpPr>
        <p:spPr>
          <a:xfrm>
            <a:off x="868680" y="4160520"/>
            <a:ext cx="2865120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!!c2m"/>
          <p:cNvSpPr txBox="1"/>
          <p:nvPr/>
        </p:nvSpPr>
        <p:spPr>
          <a:xfrm>
            <a:off x="868680" y="3429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show why they fired, so investigators start with facts.</a:t>
            </a:r>
            <a:endParaRPr lang="en-US" sz="1400" dirty="0"/>
          </a:p>
        </p:txBody>
      </p:sp>
      <p:sp>
        <p:nvSpPr>
          <p:cNvPr id="21" name="!!c3"/>
          <p:cNvSpPr/>
          <p:nvPr/>
        </p:nvSpPr>
        <p:spPr>
          <a:xfrm>
            <a:off x="6035040" y="30175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161616"/>
          </a:solidFill>
          <a:ln w="9525">
            <a:solidFill>
              <a:srgbClr val="5A4A1A"/>
            </a:solidFill>
            <a:prstDash val="solid"/>
          </a:ln>
        </p:spPr>
      </p:sp>
      <p:sp>
        <p:nvSpPr>
          <p:cNvPr id="22" name="!!c3h"/>
          <p:cNvSpPr txBox="1"/>
          <p:nvPr/>
        </p:nvSpPr>
        <p:spPr>
          <a:xfrm>
            <a:off x="6263640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Act</a:t>
            </a:r>
            <a:endParaRPr lang="en-US" sz="1400" dirty="0"/>
          </a:p>
        </p:txBody>
      </p:sp>
      <p:sp>
        <p:nvSpPr>
          <p:cNvPr id="23" name="!!c3b"/>
          <p:cNvSpPr txBox="1"/>
          <p:nvPr/>
        </p:nvSpPr>
        <p:spPr>
          <a:xfrm>
            <a:off x="6263640" y="3566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case, assign an investigator, track recovery and report the result.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3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"/>
          <p:cNvSpPr/>
          <p:nvPr/>
        </p:nvSpPr>
        <p:spPr>
          <a:xfrm>
            <a:off x="777240" y="548640"/>
            <a:ext cx="4754880" cy="4754880"/>
          </a:xfrm>
          <a:prstGeom prst="ellipse">
            <a:avLst/>
          </a:prstGeom>
          <a:solidFill>
            <a:srgbClr val="D4AF37">
              <a:alpha val="7000"/>
            </a:srgbClr>
          </a:solidFill>
          <a:ln/>
        </p:spPr>
      </p:sp>
      <p:sp>
        <p:nvSpPr>
          <p:cNvPr id="4" name="!!st1"/>
          <p:cNvSpPr/>
          <p:nvPr/>
        </p:nvSpPr>
        <p:spPr>
          <a:xfrm rot="2820000">
            <a:off x="2651760" y="3566160"/>
            <a:ext cx="6400800" cy="18288"/>
          </a:xfrm>
          <a:prstGeom prst="rect">
            <a:avLst/>
          </a:prstGeom>
          <a:solidFill>
            <a:srgbClr val="D4AF37">
              <a:alpha val="20000"/>
            </a:srgbClr>
          </a:solidFill>
          <a:ln/>
        </p:spPr>
      </p:sp>
      <p:sp>
        <p:nvSpPr>
          <p:cNvPr id="5" name="!!st2"/>
          <p:cNvSpPr/>
          <p:nvPr/>
        </p:nvSpPr>
        <p:spPr>
          <a:xfrm rot="-1380000">
            <a:off x="3749040" y="1097280"/>
            <a:ext cx="4114800" cy="18288"/>
          </a:xfrm>
          <a:prstGeom prst="rect">
            <a:avLst/>
          </a:prstGeom>
          <a:solidFill>
            <a:srgbClr val="F3E5AB">
              <a:alpha val="16000"/>
            </a:srgbClr>
          </a:solidFill>
          <a:ln/>
        </p:spPr>
      </p:sp>
      <p:sp>
        <p:nvSpPr>
          <p:cNvPr id="6" name="!!sp0"/>
          <p:cNvSpPr/>
          <p:nvPr/>
        </p:nvSpPr>
        <p:spPr>
          <a:xfrm>
            <a:off x="4389120" y="914400"/>
            <a:ext cx="45720" cy="45720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7" name="!!sp1"/>
          <p:cNvSpPr/>
          <p:nvPr/>
        </p:nvSpPr>
        <p:spPr>
          <a:xfrm>
            <a:off x="7223760" y="3017520"/>
            <a:ext cx="73152" cy="73152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8" name="!!sp2"/>
          <p:cNvSpPr/>
          <p:nvPr/>
        </p:nvSpPr>
        <p:spPr>
          <a:xfrm>
            <a:off x="1828800" y="1188720"/>
            <a:ext cx="100584" cy="100584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9" name="!!sp3"/>
          <p:cNvSpPr/>
          <p:nvPr/>
        </p:nvSpPr>
        <p:spPr>
          <a:xfrm>
            <a:off x="4663440" y="3291840"/>
            <a:ext cx="128016" cy="128016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pic>
        <p:nvPicPr>
          <p:cNvPr id="10" name="!!logo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20040"/>
            <a:ext cx="640080" cy="552069"/>
          </a:xfrm>
          <a:prstGeom prst="rect">
            <a:avLst/>
          </a:prstGeom>
        </p:spPr>
      </p:pic>
      <p:sp>
        <p:nvSpPr>
          <p:cNvPr id="11" name="!!title"/>
          <p:cNvSpPr txBox="1"/>
          <p:nvPr/>
        </p:nvSpPr>
        <p:spPr>
          <a:xfrm>
            <a:off x="548640" y="36576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AXIOM works</a:t>
            </a:r>
            <a:endParaRPr lang="en-US" sz="2800" dirty="0"/>
          </a:p>
        </p:txBody>
      </p:sp>
      <p:sp>
        <p:nvSpPr>
          <p:cNvPr id="12" name="!!dot"/>
          <p:cNvSpPr/>
          <p:nvPr/>
        </p:nvSpPr>
        <p:spPr>
          <a:xfrm>
            <a:off x="3848100" y="4645152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!!c1"/>
          <p:cNvSpPr/>
          <p:nvPr/>
        </p:nvSpPr>
        <p:spPr>
          <a:xfrm>
            <a:off x="6035040" y="146304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161616"/>
          </a:solidFill>
          <a:ln w="9525">
            <a:solidFill>
              <a:srgbClr val="5A4A1A"/>
            </a:solidFill>
            <a:prstDash val="solid"/>
          </a:ln>
        </p:spPr>
      </p:sp>
      <p:sp>
        <p:nvSpPr>
          <p:cNvPr id="14" name="!!c1h"/>
          <p:cNvSpPr txBox="1"/>
          <p:nvPr/>
        </p:nvSpPr>
        <p:spPr>
          <a:xfrm>
            <a:off x="626364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Capture</a:t>
            </a:r>
            <a:endParaRPr lang="en-US" sz="1400" dirty="0"/>
          </a:p>
        </p:txBody>
      </p:sp>
      <p:sp>
        <p:nvSpPr>
          <p:cNvPr id="15" name="!!c1b"/>
          <p:cNvSpPr txBox="1"/>
          <p:nvPr/>
        </p:nvSpPr>
        <p:spPr>
          <a:xfrm>
            <a:off x="6263640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fills and trips in seconds: distance, litres, route and a receipt photo.</a:t>
            </a:r>
            <a:endParaRPr lang="en-US" sz="1050" dirty="0"/>
          </a:p>
        </p:txBody>
      </p:sp>
      <p:sp>
        <p:nvSpPr>
          <p:cNvPr id="16" name="!!c2"/>
          <p:cNvSpPr/>
          <p:nvPr/>
        </p:nvSpPr>
        <p:spPr>
          <a:xfrm>
            <a:off x="6035040" y="30175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161616"/>
          </a:solidFill>
          <a:ln w="9525">
            <a:solidFill>
              <a:srgbClr val="5A4A1A"/>
            </a:solidFill>
            <a:prstDash val="solid"/>
          </a:ln>
        </p:spPr>
      </p:sp>
      <p:sp>
        <p:nvSpPr>
          <p:cNvPr id="17" name="!!c2h"/>
          <p:cNvSpPr txBox="1"/>
          <p:nvPr/>
        </p:nvSpPr>
        <p:spPr>
          <a:xfrm>
            <a:off x="6263640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Detect</a:t>
            </a:r>
            <a:endParaRPr lang="en-US" sz="1400" dirty="0"/>
          </a:p>
        </p:txBody>
      </p:sp>
      <p:sp>
        <p:nvSpPr>
          <p:cNvPr id="18" name="!!c2b"/>
          <p:cNvSpPr txBox="1"/>
          <p:nvPr/>
        </p:nvSpPr>
        <p:spPr>
          <a:xfrm>
            <a:off x="6263640" y="3566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is scored against expected use. Outliers and slow drift are flagged automatically.</a:t>
            </a:r>
            <a:endParaRPr lang="en-US" sz="1050" dirty="0"/>
          </a:p>
        </p:txBody>
      </p:sp>
      <p:sp>
        <p:nvSpPr>
          <p:cNvPr id="19" name="!!c3"/>
          <p:cNvSpPr/>
          <p:nvPr/>
        </p:nvSpPr>
        <p:spPr>
          <a:xfrm>
            <a:off x="548640" y="1463040"/>
            <a:ext cx="5212080" cy="2971800"/>
          </a:xfrm>
          <a:prstGeom prst="roundRect">
            <a:avLst>
              <a:gd name="adj" fmla="val 2462"/>
            </a:avLst>
          </a:prstGeom>
          <a:solidFill>
            <a:srgbClr val="1F1B0C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20" name="!!c3h"/>
          <p:cNvSpPr txBox="1"/>
          <p:nvPr/>
        </p:nvSpPr>
        <p:spPr>
          <a:xfrm>
            <a:off x="86868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Act</a:t>
            </a:r>
            <a:endParaRPr lang="en-US" sz="2600" dirty="0"/>
          </a:p>
        </p:txBody>
      </p:sp>
      <p:sp>
        <p:nvSpPr>
          <p:cNvPr id="21" name="!!c3b"/>
          <p:cNvSpPr txBox="1"/>
          <p:nvPr/>
        </p:nvSpPr>
        <p:spPr>
          <a:xfrm>
            <a:off x="868680" y="23317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case, assign an investigator, track recovery and report the result.</a:t>
            </a:r>
            <a:endParaRPr lang="en-US" sz="1700" dirty="0"/>
          </a:p>
        </p:txBody>
      </p:sp>
      <p:sp>
        <p:nvSpPr>
          <p:cNvPr id="22" name="!!pbar"/>
          <p:cNvSpPr/>
          <p:nvPr/>
        </p:nvSpPr>
        <p:spPr>
          <a:xfrm>
            <a:off x="868680" y="4160520"/>
            <a:ext cx="4297680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3" name="!!c3m"/>
          <p:cNvSpPr txBox="1"/>
          <p:nvPr/>
        </p:nvSpPr>
        <p:spPr>
          <a:xfrm>
            <a:off x="868680" y="3429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recorded in a tamper-evident trail.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3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"/>
          <p:cNvSpPr/>
          <p:nvPr/>
        </p:nvSpPr>
        <p:spPr>
          <a:xfrm>
            <a:off x="3108960" y="914400"/>
            <a:ext cx="5120640" cy="5120640"/>
          </a:xfrm>
          <a:prstGeom prst="ellipse">
            <a:avLst/>
          </a:prstGeom>
          <a:solidFill>
            <a:srgbClr val="D4AF37">
              <a:alpha val="7000"/>
            </a:srgbClr>
          </a:solidFill>
          <a:ln/>
        </p:spPr>
      </p:sp>
      <p:sp>
        <p:nvSpPr>
          <p:cNvPr id="4" name="!!st1"/>
          <p:cNvSpPr/>
          <p:nvPr/>
        </p:nvSpPr>
        <p:spPr>
          <a:xfrm rot="3480000">
            <a:off x="-1280160" y="1280160"/>
            <a:ext cx="6400800" cy="18288"/>
          </a:xfrm>
          <a:prstGeom prst="rect">
            <a:avLst/>
          </a:prstGeom>
          <a:solidFill>
            <a:srgbClr val="D4AF37">
              <a:alpha val="20000"/>
            </a:srgbClr>
          </a:solidFill>
          <a:ln/>
        </p:spPr>
      </p:sp>
      <p:sp>
        <p:nvSpPr>
          <p:cNvPr id="5" name="!!st2"/>
          <p:cNvSpPr/>
          <p:nvPr/>
        </p:nvSpPr>
        <p:spPr>
          <a:xfrm rot="-1920000">
            <a:off x="4937760" y="1645920"/>
            <a:ext cx="4114800" cy="18288"/>
          </a:xfrm>
          <a:prstGeom prst="rect">
            <a:avLst/>
          </a:prstGeom>
          <a:solidFill>
            <a:srgbClr val="F3E5AB">
              <a:alpha val="16000"/>
            </a:srgbClr>
          </a:solidFill>
          <a:ln/>
        </p:spPr>
      </p:sp>
      <p:sp>
        <p:nvSpPr>
          <p:cNvPr id="6" name="!!sp0"/>
          <p:cNvSpPr/>
          <p:nvPr/>
        </p:nvSpPr>
        <p:spPr>
          <a:xfrm>
            <a:off x="6126480" y="2103120"/>
            <a:ext cx="45720" cy="45720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7" name="!!sp1"/>
          <p:cNvSpPr/>
          <p:nvPr/>
        </p:nvSpPr>
        <p:spPr>
          <a:xfrm>
            <a:off x="731520" y="4206240"/>
            <a:ext cx="73152" cy="73152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8" name="!!sp2"/>
          <p:cNvSpPr/>
          <p:nvPr/>
        </p:nvSpPr>
        <p:spPr>
          <a:xfrm>
            <a:off x="3566160" y="2377440"/>
            <a:ext cx="100584" cy="100584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9" name="!!sp3"/>
          <p:cNvSpPr/>
          <p:nvPr/>
        </p:nvSpPr>
        <p:spPr>
          <a:xfrm>
            <a:off x="6400800" y="548640"/>
            <a:ext cx="128016" cy="128016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pic>
        <p:nvPicPr>
          <p:cNvPr id="10" name="!!logo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20040"/>
            <a:ext cx="640080" cy="552069"/>
          </a:xfrm>
          <a:prstGeom prst="rect">
            <a:avLst/>
          </a:prstGeom>
        </p:spPr>
      </p:pic>
      <p:sp>
        <p:nvSpPr>
          <p:cNvPr id="11" name="!!title"/>
          <p:cNvSpPr txBox="1"/>
          <p:nvPr/>
        </p:nvSpPr>
        <p:spPr>
          <a:xfrm>
            <a:off x="548640" y="36576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get</a:t>
            </a:r>
            <a:endParaRPr lang="en-US" sz="2800" dirty="0"/>
          </a:p>
        </p:txBody>
      </p:sp>
      <p:sp>
        <p:nvSpPr>
          <p:cNvPr id="12" name="!!dot"/>
          <p:cNvSpPr/>
          <p:nvPr/>
        </p:nvSpPr>
        <p:spPr>
          <a:xfrm>
            <a:off x="4507992" y="4645152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!!c1"/>
          <p:cNvSpPr/>
          <p:nvPr/>
        </p:nvSpPr>
        <p:spPr>
          <a:xfrm>
            <a:off x="548640" y="14630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9525">
            <a:solidFill>
              <a:srgbClr val="5A4A1A"/>
            </a:solidFill>
            <a:prstDash val="solid"/>
          </a:ln>
        </p:spPr>
      </p:sp>
      <p:sp>
        <p:nvSpPr>
          <p:cNvPr id="14" name="!!c1h"/>
          <p:cNvSpPr txBox="1"/>
          <p:nvPr/>
        </p:nvSpPr>
        <p:spPr>
          <a:xfrm>
            <a:off x="731520" y="16276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alerts</a:t>
            </a:r>
            <a:endParaRPr lang="en-US" sz="1400" dirty="0"/>
          </a:p>
        </p:txBody>
      </p:sp>
      <p:sp>
        <p:nvSpPr>
          <p:cNvPr id="15" name="!!c1b"/>
          <p:cNvSpPr txBox="1"/>
          <p:nvPr/>
        </p:nvSpPr>
        <p:spPr>
          <a:xfrm>
            <a:off x="731520" y="2011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why an entry fired, and test what would change the verdict.</a:t>
            </a:r>
            <a:endParaRPr lang="en-US" sz="1200" dirty="0"/>
          </a:p>
        </p:txBody>
      </p:sp>
      <p:sp>
        <p:nvSpPr>
          <p:cNvPr id="16" name="!!c2"/>
          <p:cNvSpPr/>
          <p:nvPr/>
        </p:nvSpPr>
        <p:spPr>
          <a:xfrm>
            <a:off x="3291840" y="14630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9525">
            <a:solidFill>
              <a:srgbClr val="5A4A1A"/>
            </a:solidFill>
            <a:prstDash val="solid"/>
          </a:ln>
        </p:spPr>
      </p:sp>
      <p:sp>
        <p:nvSpPr>
          <p:cNvPr id="17" name="!!c2h"/>
          <p:cNvSpPr txBox="1"/>
          <p:nvPr/>
        </p:nvSpPr>
        <p:spPr>
          <a:xfrm>
            <a:off x="3474720" y="16276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400" dirty="0"/>
          </a:p>
        </p:txBody>
      </p:sp>
      <p:sp>
        <p:nvSpPr>
          <p:cNvPr id="18" name="!!c2b"/>
          <p:cNvSpPr txBox="1"/>
          <p:nvPr/>
        </p:nvSpPr>
        <p:spPr>
          <a:xfrm>
            <a:off x="3474720" y="2011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CUSUM tracking catches slow, sustained leakage a single check would miss.</a:t>
            </a:r>
            <a:endParaRPr lang="en-US" sz="1200" dirty="0"/>
          </a:p>
        </p:txBody>
      </p:sp>
      <p:sp>
        <p:nvSpPr>
          <p:cNvPr id="19" name="!!c3"/>
          <p:cNvSpPr/>
          <p:nvPr/>
        </p:nvSpPr>
        <p:spPr>
          <a:xfrm>
            <a:off x="6035040" y="14630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9525">
            <a:solidFill>
              <a:srgbClr val="5A4A1A"/>
            </a:solidFill>
            <a:prstDash val="solid"/>
          </a:ln>
        </p:spPr>
      </p:sp>
      <p:sp>
        <p:nvSpPr>
          <p:cNvPr id="20" name="!!c3h"/>
          <p:cNvSpPr txBox="1"/>
          <p:nvPr/>
        </p:nvSpPr>
        <p:spPr>
          <a:xfrm>
            <a:off x="6217920" y="16276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scores</a:t>
            </a:r>
            <a:endParaRPr lang="en-US" sz="1400" dirty="0"/>
          </a:p>
        </p:txBody>
      </p:sp>
      <p:sp>
        <p:nvSpPr>
          <p:cNvPr id="21" name="!!c3b"/>
          <p:cNvSpPr txBox="1"/>
          <p:nvPr/>
        </p:nvSpPr>
        <p:spPr>
          <a:xfrm>
            <a:off x="6217920" y="2011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truck gets a 0–100 score for completeness and plausibility.</a:t>
            </a:r>
            <a:endParaRPr lang="en-US" sz="1200" dirty="0"/>
          </a:p>
        </p:txBody>
      </p:sp>
      <p:sp>
        <p:nvSpPr>
          <p:cNvPr id="22" name="!!c4"/>
          <p:cNvSpPr/>
          <p:nvPr/>
        </p:nvSpPr>
        <p:spPr>
          <a:xfrm>
            <a:off x="548640" y="30632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9525">
            <a:solidFill>
              <a:srgbClr val="5A4A1A"/>
            </a:solidFill>
            <a:prstDash val="solid"/>
          </a:ln>
        </p:spPr>
      </p:sp>
      <p:sp>
        <p:nvSpPr>
          <p:cNvPr id="23" name="!!c4h"/>
          <p:cNvSpPr txBox="1"/>
          <p:nvPr/>
        </p:nvSpPr>
        <p:spPr>
          <a:xfrm>
            <a:off x="731520" y="32278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log</a:t>
            </a:r>
            <a:endParaRPr lang="en-US" sz="1400" dirty="0"/>
          </a:p>
        </p:txBody>
      </p:sp>
      <p:sp>
        <p:nvSpPr>
          <p:cNvPr id="24" name="!!c4b"/>
          <p:cNvSpPr txBox="1"/>
          <p:nvPr/>
        </p:nvSpPr>
        <p:spPr>
          <a:xfrm>
            <a:off x="731520" y="3611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audit trail shows if any record was changed.</a:t>
            </a:r>
            <a:endParaRPr lang="en-US" sz="1200" dirty="0"/>
          </a:p>
        </p:txBody>
      </p:sp>
      <p:sp>
        <p:nvSpPr>
          <p:cNvPr id="25" name="!!c5"/>
          <p:cNvSpPr/>
          <p:nvPr/>
        </p:nvSpPr>
        <p:spPr>
          <a:xfrm>
            <a:off x="3291840" y="30632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9525">
            <a:solidFill>
              <a:srgbClr val="5A4A1A"/>
            </a:solidFill>
            <a:prstDash val="solid"/>
          </a:ln>
        </p:spPr>
      </p:sp>
      <p:sp>
        <p:nvSpPr>
          <p:cNvPr id="26" name="!!c5h"/>
          <p:cNvSpPr txBox="1"/>
          <p:nvPr/>
        </p:nvSpPr>
        <p:spPr>
          <a:xfrm>
            <a:off x="3474720" y="32278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recovery</a:t>
            </a:r>
            <a:endParaRPr lang="en-US" sz="1400" dirty="0"/>
          </a:p>
        </p:txBody>
      </p:sp>
      <p:sp>
        <p:nvSpPr>
          <p:cNvPr id="27" name="!!c5b"/>
          <p:cNvSpPr txBox="1"/>
          <p:nvPr/>
        </p:nvSpPr>
        <p:spPr>
          <a:xfrm>
            <a:off x="3474720" y="3611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Assign, review in bulk, and track litres and money recovered.</a:t>
            </a:r>
            <a:endParaRPr lang="en-US" sz="1200" dirty="0"/>
          </a:p>
        </p:txBody>
      </p:sp>
      <p:sp>
        <p:nvSpPr>
          <p:cNvPr id="28" name="!!c6"/>
          <p:cNvSpPr/>
          <p:nvPr/>
        </p:nvSpPr>
        <p:spPr>
          <a:xfrm>
            <a:off x="6035040" y="30632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9525">
            <a:solidFill>
              <a:srgbClr val="5A4A1A"/>
            </a:solidFill>
            <a:prstDash val="solid"/>
          </a:ln>
        </p:spPr>
      </p:sp>
      <p:sp>
        <p:nvSpPr>
          <p:cNvPr id="29" name="!!c6h"/>
          <p:cNvSpPr txBox="1"/>
          <p:nvPr/>
        </p:nvSpPr>
        <p:spPr>
          <a:xfrm>
            <a:off x="6217920" y="32278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ESG</a:t>
            </a:r>
            <a:endParaRPr lang="en-US" sz="1400" dirty="0"/>
          </a:p>
        </p:txBody>
      </p:sp>
      <p:sp>
        <p:nvSpPr>
          <p:cNvPr id="30" name="!!c6b"/>
          <p:cNvSpPr txBox="1"/>
          <p:nvPr/>
        </p:nvSpPr>
        <p:spPr>
          <a:xfrm>
            <a:off x="6217920" y="3611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reserve, ROI, cost per km and Scope 1 CO₂e in one view.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3600">
        <p159:morph option="byWord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"/>
          <p:cNvSpPr/>
          <p:nvPr/>
        </p:nvSpPr>
        <p:spPr>
          <a:xfrm>
            <a:off x="777240" y="548640"/>
            <a:ext cx="4754880" cy="4754880"/>
          </a:xfrm>
          <a:prstGeom prst="ellipse">
            <a:avLst/>
          </a:prstGeom>
          <a:solidFill>
            <a:srgbClr val="D4AF37">
              <a:alpha val="7000"/>
            </a:srgbClr>
          </a:solidFill>
          <a:ln/>
        </p:spPr>
      </p:sp>
      <p:sp>
        <p:nvSpPr>
          <p:cNvPr id="4" name="!!st1"/>
          <p:cNvSpPr/>
          <p:nvPr/>
        </p:nvSpPr>
        <p:spPr>
          <a:xfrm rot="4140000">
            <a:off x="-640080" y="2103120"/>
            <a:ext cx="6400800" cy="18288"/>
          </a:xfrm>
          <a:prstGeom prst="rect">
            <a:avLst/>
          </a:prstGeom>
          <a:solidFill>
            <a:srgbClr val="D4AF37">
              <a:alpha val="20000"/>
            </a:srgbClr>
          </a:solidFill>
          <a:ln/>
        </p:spPr>
      </p:sp>
      <p:sp>
        <p:nvSpPr>
          <p:cNvPr id="5" name="!!st2"/>
          <p:cNvSpPr/>
          <p:nvPr/>
        </p:nvSpPr>
        <p:spPr>
          <a:xfrm rot="-2460000">
            <a:off x="6126480" y="2194560"/>
            <a:ext cx="4114800" cy="18288"/>
          </a:xfrm>
          <a:prstGeom prst="rect">
            <a:avLst/>
          </a:prstGeom>
          <a:solidFill>
            <a:srgbClr val="F3E5AB">
              <a:alpha val="16000"/>
            </a:srgbClr>
          </a:solidFill>
          <a:ln/>
        </p:spPr>
      </p:sp>
      <p:sp>
        <p:nvSpPr>
          <p:cNvPr id="6" name="!!sp0"/>
          <p:cNvSpPr/>
          <p:nvPr/>
        </p:nvSpPr>
        <p:spPr>
          <a:xfrm>
            <a:off x="7863840" y="3291840"/>
            <a:ext cx="45720" cy="45720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7" name="!!sp1"/>
          <p:cNvSpPr/>
          <p:nvPr/>
        </p:nvSpPr>
        <p:spPr>
          <a:xfrm>
            <a:off x="2468880" y="1463040"/>
            <a:ext cx="73152" cy="73152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8" name="!!sp2"/>
          <p:cNvSpPr/>
          <p:nvPr/>
        </p:nvSpPr>
        <p:spPr>
          <a:xfrm>
            <a:off x="5303520" y="3566160"/>
            <a:ext cx="100584" cy="100584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9" name="!!sp3"/>
          <p:cNvSpPr/>
          <p:nvPr/>
        </p:nvSpPr>
        <p:spPr>
          <a:xfrm>
            <a:off x="8138160" y="1737360"/>
            <a:ext cx="128016" cy="128016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pic>
        <p:nvPicPr>
          <p:cNvPr id="10" name="!!logo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20040"/>
            <a:ext cx="640080" cy="552069"/>
          </a:xfrm>
          <a:prstGeom prst="rect">
            <a:avLst/>
          </a:prstGeom>
        </p:spPr>
      </p:pic>
      <p:sp>
        <p:nvSpPr>
          <p:cNvPr id="11" name="!!title"/>
          <p:cNvSpPr txBox="1"/>
          <p:nvPr/>
        </p:nvSpPr>
        <p:spPr>
          <a:xfrm>
            <a:off x="548640" y="36576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three views</a:t>
            </a:r>
            <a:endParaRPr lang="en-US" sz="2800" dirty="0"/>
          </a:p>
        </p:txBody>
      </p:sp>
      <p:sp>
        <p:nvSpPr>
          <p:cNvPr id="12" name="!!dot"/>
          <p:cNvSpPr/>
          <p:nvPr/>
        </p:nvSpPr>
        <p:spPr>
          <a:xfrm>
            <a:off x="5167884" y="4645152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!!c1"/>
          <p:cNvSpPr/>
          <p:nvPr/>
        </p:nvSpPr>
        <p:spPr>
          <a:xfrm>
            <a:off x="548640" y="1463040"/>
            <a:ext cx="5212080" cy="2971800"/>
          </a:xfrm>
          <a:prstGeom prst="roundRect">
            <a:avLst>
              <a:gd name="adj" fmla="val 2462"/>
            </a:avLst>
          </a:prstGeom>
          <a:solidFill>
            <a:srgbClr val="1F1B0C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4" name="!!c1h"/>
          <p:cNvSpPr txBox="1"/>
          <p:nvPr/>
        </p:nvSpPr>
        <p:spPr>
          <a:xfrm>
            <a:off x="86868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managers</a:t>
            </a:r>
            <a:endParaRPr lang="en-US" sz="2600" dirty="0"/>
          </a:p>
        </p:txBody>
      </p:sp>
      <p:sp>
        <p:nvSpPr>
          <p:cNvPr id="15" name="!!c1b"/>
          <p:cNvSpPr txBox="1"/>
          <p:nvPr/>
        </p:nvSpPr>
        <p:spPr>
          <a:xfrm>
            <a:off x="868680" y="23317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alert queue, saved views and bulk actions to clear the risky entries first.</a:t>
            </a:r>
            <a:endParaRPr lang="en-US" sz="1700" dirty="0"/>
          </a:p>
        </p:txBody>
      </p:sp>
      <p:sp>
        <p:nvSpPr>
          <p:cNvPr id="16" name="!!pbar"/>
          <p:cNvSpPr/>
          <p:nvPr/>
        </p:nvSpPr>
        <p:spPr>
          <a:xfrm>
            <a:off x="868680" y="4160520"/>
            <a:ext cx="1432560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!!c1m"/>
          <p:cNvSpPr txBox="1"/>
          <p:nvPr/>
        </p:nvSpPr>
        <p:spPr>
          <a:xfrm>
            <a:off x="868680" y="3429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views like “my high-risk queue” and share them by link.</a:t>
            </a:r>
            <a:endParaRPr lang="en-US" sz="1400" dirty="0"/>
          </a:p>
        </p:txBody>
      </p:sp>
      <p:sp>
        <p:nvSpPr>
          <p:cNvPr id="18" name="!!c2"/>
          <p:cNvSpPr/>
          <p:nvPr/>
        </p:nvSpPr>
        <p:spPr>
          <a:xfrm>
            <a:off x="6035040" y="146304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161616"/>
          </a:solidFill>
          <a:ln w="9525">
            <a:solidFill>
              <a:srgbClr val="5A4A1A"/>
            </a:solidFill>
            <a:prstDash val="solid"/>
          </a:ln>
        </p:spPr>
      </p:sp>
      <p:sp>
        <p:nvSpPr>
          <p:cNvPr id="19" name="!!c2h"/>
          <p:cNvSpPr txBox="1"/>
          <p:nvPr/>
        </p:nvSpPr>
        <p:spPr>
          <a:xfrm>
            <a:off x="626364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leaders</a:t>
            </a:r>
            <a:endParaRPr lang="en-US" sz="1400" dirty="0"/>
          </a:p>
        </p:txBody>
      </p:sp>
      <p:sp>
        <p:nvSpPr>
          <p:cNvPr id="20" name="!!c2b"/>
          <p:cNvSpPr txBox="1"/>
          <p:nvPr/>
        </p:nvSpPr>
        <p:spPr>
          <a:xfrm>
            <a:off x="6263640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in currency, a loss reserve with a confidence range, and a board pack to download.</a:t>
            </a:r>
            <a:endParaRPr lang="en-US" sz="1050" dirty="0"/>
          </a:p>
        </p:txBody>
      </p:sp>
      <p:sp>
        <p:nvSpPr>
          <p:cNvPr id="21" name="!!c3"/>
          <p:cNvSpPr/>
          <p:nvPr/>
        </p:nvSpPr>
        <p:spPr>
          <a:xfrm>
            <a:off x="6035040" y="30175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161616"/>
          </a:solidFill>
          <a:ln w="9525">
            <a:solidFill>
              <a:srgbClr val="5A4A1A"/>
            </a:solidFill>
            <a:prstDash val="solid"/>
          </a:ln>
        </p:spPr>
      </p:sp>
      <p:sp>
        <p:nvSpPr>
          <p:cNvPr id="22" name="!!c3h"/>
          <p:cNvSpPr txBox="1"/>
          <p:nvPr/>
        </p:nvSpPr>
        <p:spPr>
          <a:xfrm>
            <a:off x="6263640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&amp; teams</a:t>
            </a:r>
            <a:endParaRPr lang="en-US" sz="1400" dirty="0"/>
          </a:p>
        </p:txBody>
      </p:sp>
      <p:sp>
        <p:nvSpPr>
          <p:cNvPr id="23" name="!!c3b"/>
          <p:cNvSpPr txBox="1"/>
          <p:nvPr/>
        </p:nvSpPr>
        <p:spPr>
          <a:xfrm>
            <a:off x="6263640" y="3566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transparent scoring with reasons, so honest drivers are protected, not punished.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36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"/>
          <p:cNvSpPr/>
          <p:nvPr/>
        </p:nvSpPr>
        <p:spPr>
          <a:xfrm>
            <a:off x="777240" y="548640"/>
            <a:ext cx="4754880" cy="4754880"/>
          </a:xfrm>
          <a:prstGeom prst="ellipse">
            <a:avLst/>
          </a:prstGeom>
          <a:solidFill>
            <a:srgbClr val="D4AF37">
              <a:alpha val="7000"/>
            </a:srgbClr>
          </a:solidFill>
          <a:ln/>
        </p:spPr>
      </p:sp>
      <p:sp>
        <p:nvSpPr>
          <p:cNvPr id="4" name="!!st1"/>
          <p:cNvSpPr/>
          <p:nvPr/>
        </p:nvSpPr>
        <p:spPr>
          <a:xfrm rot="4800000">
            <a:off x="0" y="2926080"/>
            <a:ext cx="6400800" cy="18288"/>
          </a:xfrm>
          <a:prstGeom prst="rect">
            <a:avLst/>
          </a:prstGeom>
          <a:solidFill>
            <a:srgbClr val="D4AF37">
              <a:alpha val="20000"/>
            </a:srgbClr>
          </a:solidFill>
          <a:ln/>
        </p:spPr>
      </p:sp>
      <p:sp>
        <p:nvSpPr>
          <p:cNvPr id="5" name="!!st2"/>
          <p:cNvSpPr/>
          <p:nvPr/>
        </p:nvSpPr>
        <p:spPr>
          <a:xfrm rot="-3000000">
            <a:off x="1828800" y="2743200"/>
            <a:ext cx="4114800" cy="18288"/>
          </a:xfrm>
          <a:prstGeom prst="rect">
            <a:avLst/>
          </a:prstGeom>
          <a:solidFill>
            <a:srgbClr val="F3E5AB">
              <a:alpha val="16000"/>
            </a:srgbClr>
          </a:solidFill>
          <a:ln/>
        </p:spPr>
      </p:sp>
      <p:sp>
        <p:nvSpPr>
          <p:cNvPr id="6" name="!!sp0"/>
          <p:cNvSpPr/>
          <p:nvPr/>
        </p:nvSpPr>
        <p:spPr>
          <a:xfrm>
            <a:off x="1371600" y="548640"/>
            <a:ext cx="45720" cy="45720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7" name="!!sp1"/>
          <p:cNvSpPr/>
          <p:nvPr/>
        </p:nvSpPr>
        <p:spPr>
          <a:xfrm>
            <a:off x="4206240" y="2651760"/>
            <a:ext cx="73152" cy="73152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8" name="!!sp2"/>
          <p:cNvSpPr/>
          <p:nvPr/>
        </p:nvSpPr>
        <p:spPr>
          <a:xfrm>
            <a:off x="7040880" y="822960"/>
            <a:ext cx="100584" cy="100584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9" name="!!sp3"/>
          <p:cNvSpPr/>
          <p:nvPr/>
        </p:nvSpPr>
        <p:spPr>
          <a:xfrm>
            <a:off x="1645920" y="2926080"/>
            <a:ext cx="128016" cy="128016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pic>
        <p:nvPicPr>
          <p:cNvPr id="10" name="!!logo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20040"/>
            <a:ext cx="640080" cy="552069"/>
          </a:xfrm>
          <a:prstGeom prst="rect">
            <a:avLst/>
          </a:prstGeom>
        </p:spPr>
      </p:pic>
      <p:sp>
        <p:nvSpPr>
          <p:cNvPr id="11" name="!!title"/>
          <p:cNvSpPr txBox="1"/>
          <p:nvPr/>
        </p:nvSpPr>
        <p:spPr>
          <a:xfrm>
            <a:off x="548640" y="36576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three views</a:t>
            </a:r>
            <a:endParaRPr lang="en-US" sz="2800" dirty="0"/>
          </a:p>
        </p:txBody>
      </p:sp>
      <p:sp>
        <p:nvSpPr>
          <p:cNvPr id="12" name="!!dot"/>
          <p:cNvSpPr/>
          <p:nvPr/>
        </p:nvSpPr>
        <p:spPr>
          <a:xfrm>
            <a:off x="5827776" y="4645152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!!c1"/>
          <p:cNvSpPr/>
          <p:nvPr/>
        </p:nvSpPr>
        <p:spPr>
          <a:xfrm>
            <a:off x="6035040" y="146304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161616"/>
          </a:solidFill>
          <a:ln w="9525">
            <a:solidFill>
              <a:srgbClr val="5A4A1A"/>
            </a:solidFill>
            <a:prstDash val="solid"/>
          </a:ln>
        </p:spPr>
      </p:sp>
      <p:sp>
        <p:nvSpPr>
          <p:cNvPr id="14" name="!!c1h"/>
          <p:cNvSpPr txBox="1"/>
          <p:nvPr/>
        </p:nvSpPr>
        <p:spPr>
          <a:xfrm>
            <a:off x="626364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managers</a:t>
            </a:r>
            <a:endParaRPr lang="en-US" sz="1400" dirty="0"/>
          </a:p>
        </p:txBody>
      </p:sp>
      <p:sp>
        <p:nvSpPr>
          <p:cNvPr id="15" name="!!c1b"/>
          <p:cNvSpPr txBox="1"/>
          <p:nvPr/>
        </p:nvSpPr>
        <p:spPr>
          <a:xfrm>
            <a:off x="6263640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alert queue, saved views and bulk actions to clear the risky entries first.</a:t>
            </a:r>
            <a:endParaRPr lang="en-US" sz="1050" dirty="0"/>
          </a:p>
        </p:txBody>
      </p:sp>
      <p:sp>
        <p:nvSpPr>
          <p:cNvPr id="16" name="!!c2"/>
          <p:cNvSpPr/>
          <p:nvPr/>
        </p:nvSpPr>
        <p:spPr>
          <a:xfrm>
            <a:off x="548640" y="1463040"/>
            <a:ext cx="5212080" cy="2971800"/>
          </a:xfrm>
          <a:prstGeom prst="roundRect">
            <a:avLst>
              <a:gd name="adj" fmla="val 2462"/>
            </a:avLst>
          </a:prstGeom>
          <a:solidFill>
            <a:srgbClr val="1F1B0C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7" name="!!c2h"/>
          <p:cNvSpPr txBox="1"/>
          <p:nvPr/>
        </p:nvSpPr>
        <p:spPr>
          <a:xfrm>
            <a:off x="86868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leaders</a:t>
            </a:r>
            <a:endParaRPr lang="en-US" sz="2600" dirty="0"/>
          </a:p>
        </p:txBody>
      </p:sp>
      <p:sp>
        <p:nvSpPr>
          <p:cNvPr id="18" name="!!c2b"/>
          <p:cNvSpPr txBox="1"/>
          <p:nvPr/>
        </p:nvSpPr>
        <p:spPr>
          <a:xfrm>
            <a:off x="868680" y="23317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in currency, a loss reserve with a confidence range, and a board pack to download.</a:t>
            </a:r>
            <a:endParaRPr lang="en-US" sz="1700" dirty="0"/>
          </a:p>
        </p:txBody>
      </p:sp>
      <p:sp>
        <p:nvSpPr>
          <p:cNvPr id="19" name="!!pbar"/>
          <p:cNvSpPr/>
          <p:nvPr/>
        </p:nvSpPr>
        <p:spPr>
          <a:xfrm>
            <a:off x="868680" y="4160520"/>
            <a:ext cx="2865120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!!c2m"/>
          <p:cNvSpPr txBox="1"/>
          <p:nvPr/>
        </p:nvSpPr>
        <p:spPr>
          <a:xfrm>
            <a:off x="868680" y="3429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board pack straight to PDF for the next meeting.</a:t>
            </a:r>
            <a:endParaRPr lang="en-US" sz="1400" dirty="0"/>
          </a:p>
        </p:txBody>
      </p:sp>
      <p:sp>
        <p:nvSpPr>
          <p:cNvPr id="21" name="!!c3"/>
          <p:cNvSpPr/>
          <p:nvPr/>
        </p:nvSpPr>
        <p:spPr>
          <a:xfrm>
            <a:off x="6035040" y="30175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161616"/>
          </a:solidFill>
          <a:ln w="9525">
            <a:solidFill>
              <a:srgbClr val="5A4A1A"/>
            </a:solidFill>
            <a:prstDash val="solid"/>
          </a:ln>
        </p:spPr>
      </p:sp>
      <p:sp>
        <p:nvSpPr>
          <p:cNvPr id="22" name="!!c3h"/>
          <p:cNvSpPr txBox="1"/>
          <p:nvPr/>
        </p:nvSpPr>
        <p:spPr>
          <a:xfrm>
            <a:off x="6263640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&amp; teams</a:t>
            </a:r>
            <a:endParaRPr lang="en-US" sz="1400" dirty="0"/>
          </a:p>
        </p:txBody>
      </p:sp>
      <p:sp>
        <p:nvSpPr>
          <p:cNvPr id="23" name="!!c3b"/>
          <p:cNvSpPr txBox="1"/>
          <p:nvPr/>
        </p:nvSpPr>
        <p:spPr>
          <a:xfrm>
            <a:off x="6263640" y="3566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transparent scoring with reasons, so honest drivers are protected, not punished.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3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"/>
          <p:cNvSpPr/>
          <p:nvPr/>
        </p:nvSpPr>
        <p:spPr>
          <a:xfrm>
            <a:off x="777240" y="548640"/>
            <a:ext cx="4754880" cy="4754880"/>
          </a:xfrm>
          <a:prstGeom prst="ellipse">
            <a:avLst/>
          </a:prstGeom>
          <a:solidFill>
            <a:srgbClr val="D4AF37">
              <a:alpha val="7000"/>
            </a:srgbClr>
          </a:solidFill>
          <a:ln/>
        </p:spPr>
      </p:sp>
      <p:sp>
        <p:nvSpPr>
          <p:cNvPr id="4" name="!!st1"/>
          <p:cNvSpPr/>
          <p:nvPr/>
        </p:nvSpPr>
        <p:spPr>
          <a:xfrm rot="5460000">
            <a:off x="640080" y="3749040"/>
            <a:ext cx="6400800" cy="18288"/>
          </a:xfrm>
          <a:prstGeom prst="rect">
            <a:avLst/>
          </a:prstGeom>
          <a:solidFill>
            <a:srgbClr val="D4AF37">
              <a:alpha val="20000"/>
            </a:srgbClr>
          </a:solidFill>
          <a:ln/>
        </p:spPr>
      </p:sp>
      <p:sp>
        <p:nvSpPr>
          <p:cNvPr id="5" name="!!st2"/>
          <p:cNvSpPr/>
          <p:nvPr/>
        </p:nvSpPr>
        <p:spPr>
          <a:xfrm rot="-3540000">
            <a:off x="3017520" y="3291840"/>
            <a:ext cx="4114800" cy="18288"/>
          </a:xfrm>
          <a:prstGeom prst="rect">
            <a:avLst/>
          </a:prstGeom>
          <a:solidFill>
            <a:srgbClr val="F3E5AB">
              <a:alpha val="16000"/>
            </a:srgbClr>
          </a:solidFill>
          <a:ln/>
        </p:spPr>
      </p:sp>
      <p:sp>
        <p:nvSpPr>
          <p:cNvPr id="6" name="!!sp0"/>
          <p:cNvSpPr/>
          <p:nvPr/>
        </p:nvSpPr>
        <p:spPr>
          <a:xfrm>
            <a:off x="3108960" y="1737360"/>
            <a:ext cx="45720" cy="45720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7" name="!!sp1"/>
          <p:cNvSpPr/>
          <p:nvPr/>
        </p:nvSpPr>
        <p:spPr>
          <a:xfrm>
            <a:off x="5943600" y="3840480"/>
            <a:ext cx="73152" cy="73152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8" name="!!sp2"/>
          <p:cNvSpPr/>
          <p:nvPr/>
        </p:nvSpPr>
        <p:spPr>
          <a:xfrm>
            <a:off x="548640" y="2011680"/>
            <a:ext cx="100584" cy="100584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9" name="!!sp3"/>
          <p:cNvSpPr/>
          <p:nvPr/>
        </p:nvSpPr>
        <p:spPr>
          <a:xfrm>
            <a:off x="3383280" y="4114800"/>
            <a:ext cx="128016" cy="128016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pic>
        <p:nvPicPr>
          <p:cNvPr id="10" name="!!logo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20040"/>
            <a:ext cx="640080" cy="552069"/>
          </a:xfrm>
          <a:prstGeom prst="rect">
            <a:avLst/>
          </a:prstGeom>
        </p:spPr>
      </p:pic>
      <p:sp>
        <p:nvSpPr>
          <p:cNvPr id="11" name="!!title"/>
          <p:cNvSpPr txBox="1"/>
          <p:nvPr/>
        </p:nvSpPr>
        <p:spPr>
          <a:xfrm>
            <a:off x="548640" y="36576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three views</a:t>
            </a:r>
            <a:endParaRPr lang="en-US" sz="2800" dirty="0"/>
          </a:p>
        </p:txBody>
      </p:sp>
      <p:sp>
        <p:nvSpPr>
          <p:cNvPr id="12" name="!!dot"/>
          <p:cNvSpPr/>
          <p:nvPr/>
        </p:nvSpPr>
        <p:spPr>
          <a:xfrm>
            <a:off x="6487668" y="4645152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!!c1"/>
          <p:cNvSpPr/>
          <p:nvPr/>
        </p:nvSpPr>
        <p:spPr>
          <a:xfrm>
            <a:off x="6035040" y="146304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161616"/>
          </a:solidFill>
          <a:ln w="9525">
            <a:solidFill>
              <a:srgbClr val="5A4A1A"/>
            </a:solidFill>
            <a:prstDash val="solid"/>
          </a:ln>
        </p:spPr>
      </p:sp>
      <p:sp>
        <p:nvSpPr>
          <p:cNvPr id="14" name="!!c1h"/>
          <p:cNvSpPr txBox="1"/>
          <p:nvPr/>
        </p:nvSpPr>
        <p:spPr>
          <a:xfrm>
            <a:off x="626364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managers</a:t>
            </a:r>
            <a:endParaRPr lang="en-US" sz="1400" dirty="0"/>
          </a:p>
        </p:txBody>
      </p:sp>
      <p:sp>
        <p:nvSpPr>
          <p:cNvPr id="15" name="!!c1b"/>
          <p:cNvSpPr txBox="1"/>
          <p:nvPr/>
        </p:nvSpPr>
        <p:spPr>
          <a:xfrm>
            <a:off x="6263640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alert queue, saved views and bulk actions to clear the risky entries first.</a:t>
            </a:r>
            <a:endParaRPr lang="en-US" sz="1050" dirty="0"/>
          </a:p>
        </p:txBody>
      </p:sp>
      <p:sp>
        <p:nvSpPr>
          <p:cNvPr id="16" name="!!c2"/>
          <p:cNvSpPr/>
          <p:nvPr/>
        </p:nvSpPr>
        <p:spPr>
          <a:xfrm>
            <a:off x="6035040" y="30175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161616"/>
          </a:solidFill>
          <a:ln w="9525">
            <a:solidFill>
              <a:srgbClr val="5A4A1A"/>
            </a:solidFill>
            <a:prstDash val="solid"/>
          </a:ln>
        </p:spPr>
      </p:sp>
      <p:sp>
        <p:nvSpPr>
          <p:cNvPr id="17" name="!!c2h"/>
          <p:cNvSpPr txBox="1"/>
          <p:nvPr/>
        </p:nvSpPr>
        <p:spPr>
          <a:xfrm>
            <a:off x="6263640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leaders</a:t>
            </a:r>
            <a:endParaRPr lang="en-US" sz="1400" dirty="0"/>
          </a:p>
        </p:txBody>
      </p:sp>
      <p:sp>
        <p:nvSpPr>
          <p:cNvPr id="18" name="!!c2b"/>
          <p:cNvSpPr txBox="1"/>
          <p:nvPr/>
        </p:nvSpPr>
        <p:spPr>
          <a:xfrm>
            <a:off x="6263640" y="3566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in currency, a loss reserve with a confidence range, and a board pack to download.</a:t>
            </a:r>
            <a:endParaRPr lang="en-US" sz="1050" dirty="0"/>
          </a:p>
        </p:txBody>
      </p:sp>
      <p:sp>
        <p:nvSpPr>
          <p:cNvPr id="19" name="!!c3"/>
          <p:cNvSpPr/>
          <p:nvPr/>
        </p:nvSpPr>
        <p:spPr>
          <a:xfrm>
            <a:off x="548640" y="1463040"/>
            <a:ext cx="5212080" cy="2971800"/>
          </a:xfrm>
          <a:prstGeom prst="roundRect">
            <a:avLst>
              <a:gd name="adj" fmla="val 2462"/>
            </a:avLst>
          </a:prstGeom>
          <a:solidFill>
            <a:srgbClr val="1F1B0C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20" name="!!c3h"/>
          <p:cNvSpPr txBox="1"/>
          <p:nvPr/>
        </p:nvSpPr>
        <p:spPr>
          <a:xfrm>
            <a:off x="86868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&amp; teams</a:t>
            </a:r>
            <a:endParaRPr lang="en-US" sz="2600" dirty="0"/>
          </a:p>
        </p:txBody>
      </p:sp>
      <p:sp>
        <p:nvSpPr>
          <p:cNvPr id="21" name="!!c3b"/>
          <p:cNvSpPr txBox="1"/>
          <p:nvPr/>
        </p:nvSpPr>
        <p:spPr>
          <a:xfrm>
            <a:off x="868680" y="23317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transparent scoring with reasons, so honest drivers are protected, not punished.</a:t>
            </a:r>
            <a:endParaRPr lang="en-US" sz="1700" dirty="0"/>
          </a:p>
        </p:txBody>
      </p:sp>
      <p:sp>
        <p:nvSpPr>
          <p:cNvPr id="22" name="!!pbar"/>
          <p:cNvSpPr/>
          <p:nvPr/>
        </p:nvSpPr>
        <p:spPr>
          <a:xfrm>
            <a:off x="868680" y="4160520"/>
            <a:ext cx="4297680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3" name="!!c3m"/>
          <p:cNvSpPr txBox="1"/>
          <p:nvPr/>
        </p:nvSpPr>
        <p:spPr>
          <a:xfrm>
            <a:off x="868680" y="3429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comes with reasons, so a driver can explain it.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3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"/>
          <p:cNvSpPr/>
          <p:nvPr/>
        </p:nvSpPr>
        <p:spPr>
          <a:xfrm>
            <a:off x="5120640" y="2011680"/>
            <a:ext cx="4572000" cy="4572000"/>
          </a:xfrm>
          <a:prstGeom prst="ellipse">
            <a:avLst/>
          </a:prstGeom>
          <a:solidFill>
            <a:srgbClr val="D4AF37">
              <a:alpha val="7000"/>
            </a:srgbClr>
          </a:solidFill>
          <a:ln/>
        </p:spPr>
      </p:sp>
      <p:sp>
        <p:nvSpPr>
          <p:cNvPr id="4" name="!!st1"/>
          <p:cNvSpPr/>
          <p:nvPr/>
        </p:nvSpPr>
        <p:spPr>
          <a:xfrm rot="6120000">
            <a:off x="1280160" y="1463040"/>
            <a:ext cx="6400800" cy="18288"/>
          </a:xfrm>
          <a:prstGeom prst="rect">
            <a:avLst/>
          </a:prstGeom>
          <a:solidFill>
            <a:srgbClr val="D4AF37">
              <a:alpha val="20000"/>
            </a:srgbClr>
          </a:solidFill>
          <a:ln/>
        </p:spPr>
      </p:sp>
      <p:sp>
        <p:nvSpPr>
          <p:cNvPr id="5" name="!!st2"/>
          <p:cNvSpPr/>
          <p:nvPr/>
        </p:nvSpPr>
        <p:spPr>
          <a:xfrm rot="-4080000">
            <a:off x="4206240" y="3840480"/>
            <a:ext cx="4114800" cy="18288"/>
          </a:xfrm>
          <a:prstGeom prst="rect">
            <a:avLst/>
          </a:prstGeom>
          <a:solidFill>
            <a:srgbClr val="F3E5AB">
              <a:alpha val="16000"/>
            </a:srgbClr>
          </a:solidFill>
          <a:ln/>
        </p:spPr>
      </p:sp>
      <p:sp>
        <p:nvSpPr>
          <p:cNvPr id="6" name="!!sp0"/>
          <p:cNvSpPr/>
          <p:nvPr/>
        </p:nvSpPr>
        <p:spPr>
          <a:xfrm>
            <a:off x="4846320" y="2926080"/>
            <a:ext cx="45720" cy="45720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7" name="!!sp1"/>
          <p:cNvSpPr/>
          <p:nvPr/>
        </p:nvSpPr>
        <p:spPr>
          <a:xfrm>
            <a:off x="7680960" y="1097280"/>
            <a:ext cx="73152" cy="73152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8" name="!!sp2"/>
          <p:cNvSpPr/>
          <p:nvPr/>
        </p:nvSpPr>
        <p:spPr>
          <a:xfrm>
            <a:off x="2286000" y="3200400"/>
            <a:ext cx="100584" cy="100584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9" name="!!sp3"/>
          <p:cNvSpPr/>
          <p:nvPr/>
        </p:nvSpPr>
        <p:spPr>
          <a:xfrm>
            <a:off x="5120640" y="1371600"/>
            <a:ext cx="128016" cy="128016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pic>
        <p:nvPicPr>
          <p:cNvPr id="10" name="!!logo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20040"/>
            <a:ext cx="640080" cy="552069"/>
          </a:xfrm>
          <a:prstGeom prst="rect">
            <a:avLst/>
          </a:prstGeom>
        </p:spPr>
      </p:pic>
      <p:sp>
        <p:nvSpPr>
          <p:cNvPr id="11" name="!!title"/>
          <p:cNvSpPr txBox="1"/>
          <p:nvPr/>
        </p:nvSpPr>
        <p:spPr>
          <a:xfrm>
            <a:off x="548640" y="36576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be fair and defensible</a:t>
            </a:r>
            <a:endParaRPr lang="en-US" sz="2800" dirty="0"/>
          </a:p>
        </p:txBody>
      </p:sp>
      <p:sp>
        <p:nvSpPr>
          <p:cNvPr id="12" name="!!dot"/>
          <p:cNvSpPr/>
          <p:nvPr/>
        </p:nvSpPr>
        <p:spPr>
          <a:xfrm>
            <a:off x="7147560" y="4645152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!!c1"/>
          <p:cNvSpPr/>
          <p:nvPr/>
        </p:nvSpPr>
        <p:spPr>
          <a:xfrm>
            <a:off x="548640" y="1737360"/>
            <a:ext cx="1874520" cy="2011680"/>
          </a:xfrm>
          <a:prstGeom prst="roundRect">
            <a:avLst>
              <a:gd name="adj" fmla="val 3902"/>
            </a:avLst>
          </a:prstGeom>
          <a:solidFill>
            <a:srgbClr val="161616"/>
          </a:solidFill>
          <a:ln w="9525">
            <a:solidFill>
              <a:srgbClr val="5A4A1A"/>
            </a:solidFill>
            <a:prstDash val="solid"/>
          </a:ln>
        </p:spPr>
      </p:sp>
      <p:sp>
        <p:nvSpPr>
          <p:cNvPr id="14" name="!!c1h"/>
          <p:cNvSpPr txBox="1"/>
          <p:nvPr/>
        </p:nvSpPr>
        <p:spPr>
          <a:xfrm>
            <a:off x="731520" y="19019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1600" dirty="0"/>
          </a:p>
        </p:txBody>
      </p:sp>
      <p:sp>
        <p:nvSpPr>
          <p:cNvPr id="15" name="!!c1b"/>
          <p:cNvSpPr txBox="1"/>
          <p:nvPr/>
        </p:nvSpPr>
        <p:spPr>
          <a:xfrm>
            <a:off x="731520" y="228600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shows its reasons.</a:t>
            </a:r>
            <a:endParaRPr lang="en-US" sz="1300" dirty="0"/>
          </a:p>
        </p:txBody>
      </p:sp>
      <p:sp>
        <p:nvSpPr>
          <p:cNvPr id="16" name="!!c2"/>
          <p:cNvSpPr/>
          <p:nvPr/>
        </p:nvSpPr>
        <p:spPr>
          <a:xfrm>
            <a:off x="2606040" y="1737360"/>
            <a:ext cx="1874520" cy="2011680"/>
          </a:xfrm>
          <a:prstGeom prst="roundRect">
            <a:avLst>
              <a:gd name="adj" fmla="val 3902"/>
            </a:avLst>
          </a:prstGeom>
          <a:solidFill>
            <a:srgbClr val="161616"/>
          </a:solidFill>
          <a:ln w="9525">
            <a:solidFill>
              <a:srgbClr val="5A4A1A"/>
            </a:solidFill>
            <a:prstDash val="solid"/>
          </a:ln>
        </p:spPr>
      </p:sp>
      <p:sp>
        <p:nvSpPr>
          <p:cNvPr id="17" name="!!c2h"/>
          <p:cNvSpPr txBox="1"/>
          <p:nvPr/>
        </p:nvSpPr>
        <p:spPr>
          <a:xfrm>
            <a:off x="2788920" y="19019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600" dirty="0"/>
          </a:p>
        </p:txBody>
      </p:sp>
      <p:sp>
        <p:nvSpPr>
          <p:cNvPr id="18" name="!!c2b"/>
          <p:cNvSpPr txBox="1"/>
          <p:nvPr/>
        </p:nvSpPr>
        <p:spPr>
          <a:xfrm>
            <a:off x="2788920" y="228600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are logged and verifiable.</a:t>
            </a:r>
            <a:endParaRPr lang="en-US" sz="1300" dirty="0"/>
          </a:p>
        </p:txBody>
      </p:sp>
      <p:sp>
        <p:nvSpPr>
          <p:cNvPr id="19" name="!!c3"/>
          <p:cNvSpPr/>
          <p:nvPr/>
        </p:nvSpPr>
        <p:spPr>
          <a:xfrm>
            <a:off x="4663440" y="1737360"/>
            <a:ext cx="1874520" cy="2011680"/>
          </a:xfrm>
          <a:prstGeom prst="roundRect">
            <a:avLst>
              <a:gd name="adj" fmla="val 3902"/>
            </a:avLst>
          </a:prstGeom>
          <a:solidFill>
            <a:srgbClr val="161616"/>
          </a:solidFill>
          <a:ln w="9525">
            <a:solidFill>
              <a:srgbClr val="5A4A1A"/>
            </a:solidFill>
            <a:prstDash val="solid"/>
          </a:ln>
        </p:spPr>
      </p:sp>
      <p:sp>
        <p:nvSpPr>
          <p:cNvPr id="20" name="!!c3h"/>
          <p:cNvSpPr txBox="1"/>
          <p:nvPr/>
        </p:nvSpPr>
        <p:spPr>
          <a:xfrm>
            <a:off x="4846320" y="19019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1600" dirty="0"/>
          </a:p>
        </p:txBody>
      </p:sp>
      <p:sp>
        <p:nvSpPr>
          <p:cNvPr id="21" name="!!c3b"/>
          <p:cNvSpPr txBox="1"/>
          <p:nvPr/>
        </p:nvSpPr>
        <p:spPr>
          <a:xfrm>
            <a:off x="4846320" y="228600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phones, dark, light and high-contrast.</a:t>
            </a:r>
            <a:endParaRPr lang="en-US" sz="1300" dirty="0"/>
          </a:p>
        </p:txBody>
      </p:sp>
      <p:sp>
        <p:nvSpPr>
          <p:cNvPr id="22" name="!!c4"/>
          <p:cNvSpPr/>
          <p:nvPr/>
        </p:nvSpPr>
        <p:spPr>
          <a:xfrm>
            <a:off x="6720840" y="1737360"/>
            <a:ext cx="1874520" cy="2011680"/>
          </a:xfrm>
          <a:prstGeom prst="roundRect">
            <a:avLst>
              <a:gd name="adj" fmla="val 3902"/>
            </a:avLst>
          </a:prstGeom>
          <a:solidFill>
            <a:srgbClr val="161616"/>
          </a:solidFill>
          <a:ln w="9525">
            <a:solidFill>
              <a:srgbClr val="5A4A1A"/>
            </a:solidFill>
            <a:prstDash val="solid"/>
          </a:ln>
        </p:spPr>
      </p:sp>
      <p:sp>
        <p:nvSpPr>
          <p:cNvPr id="23" name="!!c4h"/>
          <p:cNvSpPr txBox="1"/>
          <p:nvPr/>
        </p:nvSpPr>
        <p:spPr>
          <a:xfrm>
            <a:off x="6903720" y="19019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600" dirty="0"/>
          </a:p>
        </p:txBody>
      </p:sp>
      <p:sp>
        <p:nvSpPr>
          <p:cNvPr id="24" name="!!c4b"/>
          <p:cNvSpPr txBox="1"/>
          <p:nvPr/>
        </p:nvSpPr>
        <p:spPr>
          <a:xfrm>
            <a:off x="6903720" y="228600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in ten languages, more coming.</a:t>
            </a:r>
            <a:endParaRPr lang="en-US" sz="1300" dirty="0"/>
          </a:p>
        </p:txBody>
      </p:sp>
      <p:sp>
        <p:nvSpPr>
          <p:cNvPr id="25" name="!!note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stays in your browser; nothing is sent to third parties.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36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"/>
          <p:cNvSpPr/>
          <p:nvPr/>
        </p:nvSpPr>
        <p:spPr>
          <a:xfrm>
            <a:off x="548640" y="1097280"/>
            <a:ext cx="3291840" cy="3291840"/>
          </a:xfrm>
          <a:prstGeom prst="ellipse">
            <a:avLst/>
          </a:prstGeom>
          <a:solidFill>
            <a:srgbClr val="D4AF37">
              <a:alpha val="7000"/>
            </a:srgbClr>
          </a:solidFill>
          <a:ln/>
        </p:spPr>
      </p:sp>
      <p:sp>
        <p:nvSpPr>
          <p:cNvPr id="4" name="!!st1"/>
          <p:cNvSpPr/>
          <p:nvPr/>
        </p:nvSpPr>
        <p:spPr>
          <a:xfrm rot="6780000">
            <a:off x="1920240" y="2286000"/>
            <a:ext cx="6400800" cy="18288"/>
          </a:xfrm>
          <a:prstGeom prst="rect">
            <a:avLst/>
          </a:prstGeom>
          <a:solidFill>
            <a:srgbClr val="D4AF37">
              <a:alpha val="20000"/>
            </a:srgbClr>
          </a:solidFill>
          <a:ln/>
        </p:spPr>
      </p:sp>
      <p:sp>
        <p:nvSpPr>
          <p:cNvPr id="5" name="!!st2"/>
          <p:cNvSpPr/>
          <p:nvPr/>
        </p:nvSpPr>
        <p:spPr>
          <a:xfrm rot="-4620000">
            <a:off x="5394960" y="914400"/>
            <a:ext cx="4114800" cy="18288"/>
          </a:xfrm>
          <a:prstGeom prst="rect">
            <a:avLst/>
          </a:prstGeom>
          <a:solidFill>
            <a:srgbClr val="F3E5AB">
              <a:alpha val="16000"/>
            </a:srgbClr>
          </a:solidFill>
          <a:ln/>
        </p:spPr>
      </p:sp>
      <p:sp>
        <p:nvSpPr>
          <p:cNvPr id="6" name="!!sp0"/>
          <p:cNvSpPr/>
          <p:nvPr/>
        </p:nvSpPr>
        <p:spPr>
          <a:xfrm>
            <a:off x="6583680" y="4114800"/>
            <a:ext cx="45720" cy="45720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7" name="!!sp1"/>
          <p:cNvSpPr/>
          <p:nvPr/>
        </p:nvSpPr>
        <p:spPr>
          <a:xfrm>
            <a:off x="1188720" y="2286000"/>
            <a:ext cx="73152" cy="73152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8" name="!!sp2"/>
          <p:cNvSpPr/>
          <p:nvPr/>
        </p:nvSpPr>
        <p:spPr>
          <a:xfrm>
            <a:off x="4023360" y="457200"/>
            <a:ext cx="100584" cy="100584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9" name="!!sp3"/>
          <p:cNvSpPr/>
          <p:nvPr/>
        </p:nvSpPr>
        <p:spPr>
          <a:xfrm>
            <a:off x="6858000" y="2560320"/>
            <a:ext cx="128016" cy="128016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pic>
        <p:nvPicPr>
          <p:cNvPr id="10" name="!!logo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20040"/>
            <a:ext cx="640080" cy="552069"/>
          </a:xfrm>
          <a:prstGeom prst="rect">
            <a:avLst/>
          </a:prstGeom>
        </p:spPr>
      </p:pic>
      <p:sp>
        <p:nvSpPr>
          <p:cNvPr id="11" name="!!title"/>
          <p:cNvSpPr txBox="1"/>
          <p:nvPr/>
        </p:nvSpPr>
        <p:spPr>
          <a:xfrm>
            <a:off x="548640" y="36576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Behind THE AXIOM</a:t>
            </a:r>
            <a:endParaRPr lang="en-US" sz="2800" dirty="0"/>
          </a:p>
        </p:txBody>
      </p:sp>
      <p:sp>
        <p:nvSpPr>
          <p:cNvPr id="12" name="!!dot"/>
          <p:cNvSpPr/>
          <p:nvPr/>
        </p:nvSpPr>
        <p:spPr>
          <a:xfrm>
            <a:off x="7807452" y="4645152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3" name="!!avatar" descr="phot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2743200" cy="2743200"/>
          </a:xfrm>
          <a:prstGeom prst="ellipse">
            <a:avLst/>
          </a:prstGeom>
        </p:spPr>
      </p:pic>
      <p:sp>
        <p:nvSpPr>
          <p:cNvPr id="14" name="!!ct"/>
          <p:cNvSpPr txBox="1"/>
          <p:nvPr/>
        </p:nvSpPr>
        <p:spPr>
          <a:xfrm>
            <a:off x="4297680" y="1737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</a:t>
            </a:r>
            <a:endParaRPr lang="en-US" sz="1200" dirty="0"/>
          </a:p>
        </p:txBody>
      </p:sp>
      <p:sp>
        <p:nvSpPr>
          <p:cNvPr id="15" name="!!cn"/>
          <p:cNvSpPr txBox="1"/>
          <p:nvPr/>
        </p:nvSpPr>
        <p:spPr>
          <a:xfrm>
            <a:off x="4297680" y="20574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Bradley Mizinga</a:t>
            </a:r>
            <a:endParaRPr lang="en-US" sz="3600" dirty="0"/>
          </a:p>
        </p:txBody>
      </p:sp>
      <p:sp>
        <p:nvSpPr>
          <p:cNvPr id="16" name="!!cl"/>
          <p:cNvSpPr/>
          <p:nvPr/>
        </p:nvSpPr>
        <p:spPr>
          <a:xfrm>
            <a:off x="4297680" y="2971800"/>
            <a:ext cx="109728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!!cd"/>
          <p:cNvSpPr txBox="1"/>
          <p:nvPr/>
        </p:nvSpPr>
        <p:spPr>
          <a:xfrm>
            <a:off x="4297680" y="31546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of THE AXIOM, built to give transport operators clear, honest answers about every litre of diesel.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4200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"/>
          <p:cNvSpPr/>
          <p:nvPr/>
        </p:nvSpPr>
        <p:spPr>
          <a:xfrm>
            <a:off x="2468880" y="-548640"/>
            <a:ext cx="4206240" cy="4206240"/>
          </a:xfrm>
          <a:prstGeom prst="ellipse">
            <a:avLst/>
          </a:prstGeom>
          <a:solidFill>
            <a:srgbClr val="D4AF37">
              <a:alpha val="7000"/>
            </a:srgbClr>
          </a:solidFill>
          <a:ln/>
        </p:spPr>
      </p:sp>
      <p:sp>
        <p:nvSpPr>
          <p:cNvPr id="3" name="!!st1"/>
          <p:cNvSpPr/>
          <p:nvPr/>
        </p:nvSpPr>
        <p:spPr>
          <a:xfrm rot="7440000">
            <a:off x="2560320" y="3108960"/>
            <a:ext cx="6400800" cy="18288"/>
          </a:xfrm>
          <a:prstGeom prst="rect">
            <a:avLst/>
          </a:prstGeom>
          <a:solidFill>
            <a:srgbClr val="D4AF37">
              <a:alpha val="20000"/>
            </a:srgbClr>
          </a:solidFill>
          <a:ln/>
        </p:spPr>
      </p:sp>
      <p:sp>
        <p:nvSpPr>
          <p:cNvPr id="4" name="!!st2"/>
          <p:cNvSpPr/>
          <p:nvPr/>
        </p:nvSpPr>
        <p:spPr>
          <a:xfrm rot="-5160000">
            <a:off x="1097280" y="1463040"/>
            <a:ext cx="4114800" cy="18288"/>
          </a:xfrm>
          <a:prstGeom prst="rect">
            <a:avLst/>
          </a:prstGeom>
          <a:solidFill>
            <a:srgbClr val="F3E5AB">
              <a:alpha val="16000"/>
            </a:srgbClr>
          </a:solidFill>
          <a:ln/>
        </p:spPr>
      </p:sp>
      <p:sp>
        <p:nvSpPr>
          <p:cNvPr id="5" name="!!sp0"/>
          <p:cNvSpPr/>
          <p:nvPr/>
        </p:nvSpPr>
        <p:spPr>
          <a:xfrm>
            <a:off x="8321040" y="1371600"/>
            <a:ext cx="45720" cy="45720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6" name="!!sp1"/>
          <p:cNvSpPr/>
          <p:nvPr/>
        </p:nvSpPr>
        <p:spPr>
          <a:xfrm>
            <a:off x="2926080" y="3474720"/>
            <a:ext cx="73152" cy="73152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7" name="!!sp2"/>
          <p:cNvSpPr/>
          <p:nvPr/>
        </p:nvSpPr>
        <p:spPr>
          <a:xfrm>
            <a:off x="5760720" y="1645920"/>
            <a:ext cx="100584" cy="100584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sp>
        <p:nvSpPr>
          <p:cNvPr id="8" name="!!sp3"/>
          <p:cNvSpPr/>
          <p:nvPr/>
        </p:nvSpPr>
        <p:spPr>
          <a:xfrm>
            <a:off x="8595360" y="3749040"/>
            <a:ext cx="128016" cy="128016"/>
          </a:xfrm>
          <a:prstGeom prst="ellipse">
            <a:avLst/>
          </a:prstGeom>
          <a:solidFill>
            <a:srgbClr val="D4AF37">
              <a:alpha val="65000"/>
            </a:srgbClr>
          </a:solidFill>
          <a:ln/>
        </p:spPr>
      </p:sp>
      <p:pic>
        <p:nvPicPr>
          <p:cNvPr id="9" name="!!logo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365760"/>
            <a:ext cx="2377440" cy="2050542"/>
          </a:xfrm>
          <a:prstGeom prst="rect">
            <a:avLst/>
          </a:prstGeom>
        </p:spPr>
      </p:pic>
      <p:sp>
        <p:nvSpPr>
          <p:cNvPr id="10" name="!!title"/>
          <p:cNvSpPr txBox="1"/>
          <p:nvPr/>
        </p:nvSpPr>
        <p:spPr>
          <a:xfrm>
            <a:off x="548640" y="2834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the leak. Start today.</a:t>
            </a:r>
            <a:endParaRPr lang="en-US" sz="3400" dirty="0"/>
          </a:p>
        </p:txBody>
      </p:sp>
      <p:sp>
        <p:nvSpPr>
          <p:cNvPr id="11" name="!!sub"/>
          <p:cNvSpPr txBox="1"/>
          <p:nvPr/>
        </p:nvSpPr>
        <p:spPr>
          <a:xfrm>
            <a:off x="1371600" y="3566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company, add your trucks, log your first fills, and see your first insights in minutes.</a:t>
            </a:r>
            <a:endParaRPr lang="en-US" sz="1500" dirty="0"/>
          </a:p>
        </p:txBody>
      </p:sp>
      <p:sp>
        <p:nvSpPr>
          <p:cNvPr id="12" name="!!dot"/>
          <p:cNvSpPr/>
          <p:nvPr/>
        </p:nvSpPr>
        <p:spPr>
          <a:xfrm>
            <a:off x="8467344" y="4645152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38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Axiom Gold">
  <a:themeElements>
    <a:clrScheme name="Axiom Gold">
      <a:dk1>
        <a:srgbClr val="0A0A0A"/>
      </a:dk1>
      <a:lt1>
        <a:srgbClr val="FFFFFF"/>
      </a:lt1>
      <a:dk2>
        <a:srgbClr val="161616"/>
      </a:dk2>
      <a:lt2>
        <a:srgbClr val="F3E5AB"/>
      </a:lt2>
      <a:accent1>
        <a:srgbClr val="D4AF37"/>
      </a:accent1>
      <a:accent2>
        <a:srgbClr val="B8860B"/>
      </a:accent2>
      <a:accent3>
        <a:srgbClr val="F3E5AB"/>
      </a:accent3>
      <a:accent4>
        <a:srgbClr val="8C7A3B"/>
      </a:accent4>
      <a:accent5>
        <a:srgbClr val="C9C9C9"/>
      </a:accent5>
      <a:accent6>
        <a:srgbClr val="FFFFFF"/>
      </a:accent6>
      <a:hlink>
        <a:srgbClr val="D4AF37"/>
      </a:hlink>
      <a:folHlink>
        <a:srgbClr val="B8860B"/>
      </a:folHlink>
    </a:clrScheme>
    <a:fontScheme name="Axiom Gold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AXIOM — Introduction</dc:title>
  <dc:subject>PptxGenJS Presentation</dc:subject>
  <dc:creator>Bradley Mizinga</dc:creator>
  <cp:lastModifiedBy>Bradley Mizinga</cp:lastModifiedBy>
  <cp:revision>1</cp:revision>
  <dcterms:created xsi:type="dcterms:W3CDTF">2026-10-08T02:32:46Z</dcterms:created>
  <dcterms:modified xsi:type="dcterms:W3CDTF">2026-10-08T02:32:46Z</dcterms:modified>
</cp:coreProperties>
</file>